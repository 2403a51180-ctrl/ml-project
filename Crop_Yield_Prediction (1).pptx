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A2D"/>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97BC62"/>
          </a:solidFill>
          <a:ln/>
        </p:spPr>
      </p:sp>
      <p:sp>
        <p:nvSpPr>
          <p:cNvPr id="3" name="Shape 1"/>
          <p:cNvSpPr/>
          <p:nvPr/>
        </p:nvSpPr>
        <p:spPr>
          <a:xfrm>
            <a:off x="0" y="5070348"/>
            <a:ext cx="9144000" cy="73152"/>
          </a:xfrm>
          <a:prstGeom prst="rect">
            <a:avLst/>
          </a:prstGeom>
          <a:solidFill>
            <a:srgbClr val="97BC62"/>
          </a:solidFill>
          <a:ln/>
        </p:spPr>
      </p:sp>
      <p:sp>
        <p:nvSpPr>
          <p:cNvPr id="4" name="Text 2"/>
          <p:cNvSpPr/>
          <p:nvPr/>
        </p:nvSpPr>
        <p:spPr>
          <a:xfrm>
            <a:off x="731520" y="914400"/>
            <a:ext cx="7680960" cy="2011680"/>
          </a:xfrm>
          <a:prstGeom prst="rect">
            <a:avLst/>
          </a:prstGeom>
          <a:noFill/>
          <a:ln/>
        </p:spPr>
        <p:txBody>
          <a:bodyPr wrap="square" rtlCol="0" anchor="ctr"/>
          <a:lstStyle/>
          <a:p>
            <a:pPr indent="0" marL="0">
              <a:lnSpc>
                <a:spcPct val="110000"/>
              </a:lnSpc>
              <a:buNone/>
            </a:pPr>
            <a:r>
              <a:rPr lang="en-US" sz="4800" b="1" dirty="0">
                <a:solidFill>
                  <a:srgbClr val="97BC62"/>
                </a:solidFill>
                <a:latin typeface="Georgia" pitchFamily="34" charset="0"/>
                <a:ea typeface="Georgia" pitchFamily="34" charset="-122"/>
                <a:cs typeface="Georgia" pitchFamily="34" charset="-120"/>
              </a:rPr>
              <a:t>CROP YIELD</a:t>
            </a:r>
            <a:endParaRPr lang="en-US" sz="4800" dirty="0"/>
          </a:p>
          <a:p>
            <a:pPr indent="0" marL="0">
              <a:lnSpc>
                <a:spcPct val="110000"/>
              </a:lnSpc>
              <a:buNone/>
            </a:pPr>
            <a:r>
              <a:rPr lang="en-US" sz="4800" b="1" dirty="0">
                <a:solidFill>
                  <a:srgbClr val="97BC62"/>
                </a:solidFill>
                <a:latin typeface="Georgia" pitchFamily="34" charset="0"/>
                <a:ea typeface="Georgia" pitchFamily="34" charset="-122"/>
                <a:cs typeface="Georgia" pitchFamily="34" charset="-120"/>
              </a:rPr>
              <a:t>PREDICTION</a:t>
            </a:r>
            <a:endParaRPr lang="en-US" sz="4800" dirty="0"/>
          </a:p>
        </p:txBody>
      </p:sp>
      <p:sp>
        <p:nvSpPr>
          <p:cNvPr id="5" name="Text 3"/>
          <p:cNvSpPr/>
          <p:nvPr/>
        </p:nvSpPr>
        <p:spPr>
          <a:xfrm>
            <a:off x="731520" y="2834640"/>
            <a:ext cx="7680960" cy="548640"/>
          </a:xfrm>
          <a:prstGeom prst="rect">
            <a:avLst/>
          </a:prstGeom>
          <a:noFill/>
          <a:ln/>
        </p:spPr>
        <p:txBody>
          <a:bodyPr wrap="square" rtlCol="0" anchor="ctr"/>
          <a:lstStyle/>
          <a:p>
            <a:pPr indent="0" marL="0">
              <a:buNone/>
            </a:pPr>
            <a:r>
              <a:rPr lang="en-US" sz="2200" dirty="0">
                <a:solidFill>
                  <a:srgbClr val="FFFFFF"/>
                </a:solidFill>
                <a:latin typeface="Calibri" pitchFamily="34" charset="0"/>
                <a:ea typeface="Calibri" pitchFamily="34" charset="-122"/>
                <a:cs typeface="Calibri" pitchFamily="34" charset="-120"/>
              </a:rPr>
              <a:t>Using Machine Learning Techniques</a:t>
            </a:r>
            <a:endParaRPr lang="en-US" sz="2200" dirty="0"/>
          </a:p>
        </p:txBody>
      </p:sp>
      <p:sp>
        <p:nvSpPr>
          <p:cNvPr id="6" name="Shape 4"/>
          <p:cNvSpPr/>
          <p:nvPr/>
        </p:nvSpPr>
        <p:spPr>
          <a:xfrm>
            <a:off x="731520" y="3474720"/>
            <a:ext cx="2286000" cy="0"/>
          </a:xfrm>
          <a:prstGeom prst="line">
            <a:avLst/>
          </a:prstGeom>
          <a:noFill/>
          <a:ln w="38100">
            <a:solidFill>
              <a:srgbClr val="97BC62"/>
            </a:solidFill>
            <a:prstDash val="solid"/>
          </a:ln>
        </p:spPr>
      </p:sp>
      <p:sp>
        <p:nvSpPr>
          <p:cNvPr id="7" name="Text 5"/>
          <p:cNvSpPr/>
          <p:nvPr/>
        </p:nvSpPr>
        <p:spPr>
          <a:xfrm>
            <a:off x="731520" y="3749040"/>
            <a:ext cx="7315200" cy="457200"/>
          </a:xfrm>
          <a:prstGeom prst="rect">
            <a:avLst/>
          </a:prstGeom>
          <a:noFill/>
          <a:ln/>
        </p:spPr>
        <p:txBody>
          <a:bodyPr wrap="square" rtlCol="0" anchor="ctr"/>
          <a:lstStyle/>
          <a:p>
            <a:pPr indent="0" marL="0">
              <a:buNone/>
            </a:pPr>
            <a:r>
              <a:rPr lang="en-US" sz="1400" i="1" dirty="0">
                <a:solidFill>
                  <a:srgbClr val="6B7B6E"/>
                </a:solidFill>
                <a:latin typeface="Calibri" pitchFamily="34" charset="0"/>
                <a:ea typeface="Calibri" pitchFamily="34" charset="-122"/>
                <a:cs typeface="Calibri" pitchFamily="34" charset="-120"/>
              </a:rPr>
              <a:t>A Data-Driven Approach to Agricultural Optimization</a:t>
            </a:r>
            <a:endParaRPr lang="en-US" sz="1400" dirty="0"/>
          </a:p>
        </p:txBody>
      </p:sp>
      <p:sp>
        <p:nvSpPr>
          <p:cNvPr id="8" name="Text 6"/>
          <p:cNvSpPr/>
          <p:nvPr/>
        </p:nvSpPr>
        <p:spPr>
          <a:xfrm>
            <a:off x="7315200" y="4663440"/>
            <a:ext cx="1371600" cy="365760"/>
          </a:xfrm>
          <a:prstGeom prst="rect">
            <a:avLst/>
          </a:prstGeom>
          <a:noFill/>
          <a:ln/>
        </p:spPr>
        <p:txBody>
          <a:bodyPr wrap="square" rtlCol="0" anchor="ctr"/>
          <a:lstStyle/>
          <a:p>
            <a:pPr algn="r" indent="0" marL="0">
              <a:buNone/>
            </a:pPr>
            <a:r>
              <a:rPr lang="en-US" sz="1200" dirty="0">
                <a:solidFill>
                  <a:srgbClr val="6B7B6E"/>
                </a:solidFill>
              </a:rPr>
              <a:t>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2C5F2D"/>
          </a:solidFill>
          <a:ln/>
        </p:spPr>
      </p:sp>
      <p:sp>
        <p:nvSpPr>
          <p:cNvPr id="3" name="Text 1"/>
          <p:cNvSpPr/>
          <p:nvPr/>
        </p:nvSpPr>
        <p:spPr>
          <a:xfrm>
            <a:off x="457200" y="274320"/>
            <a:ext cx="8229600" cy="640080"/>
          </a:xfrm>
          <a:prstGeom prst="rect">
            <a:avLst/>
          </a:prstGeom>
          <a:noFill/>
          <a:ln/>
        </p:spPr>
        <p:txBody>
          <a:bodyPr wrap="square" rtlCol="0" anchor="ctr"/>
          <a:lstStyle/>
          <a:p>
            <a:pPr indent="0" marL="0">
              <a:buNone/>
            </a:pPr>
            <a:r>
              <a:rPr lang="en-US" sz="3200" b="1" dirty="0">
                <a:solidFill>
                  <a:srgbClr val="1B3A2D"/>
                </a:solidFill>
                <a:latin typeface="Georgia" pitchFamily="34" charset="0"/>
                <a:ea typeface="Georgia" pitchFamily="34" charset="-122"/>
                <a:cs typeface="Georgia" pitchFamily="34" charset="-120"/>
              </a:rPr>
              <a:t>ABSTRACT</a:t>
            </a:r>
            <a:endParaRPr lang="en-US" sz="3200" dirty="0"/>
          </a:p>
        </p:txBody>
      </p:sp>
      <p:sp>
        <p:nvSpPr>
          <p:cNvPr id="4" name="Shape 2"/>
          <p:cNvSpPr/>
          <p:nvPr/>
        </p:nvSpPr>
        <p:spPr>
          <a:xfrm>
            <a:off x="457200" y="914400"/>
            <a:ext cx="1828800" cy="0"/>
          </a:xfrm>
          <a:prstGeom prst="line">
            <a:avLst/>
          </a:prstGeom>
          <a:noFill/>
          <a:ln w="38100">
            <a:solidFill>
              <a:srgbClr val="97BC62"/>
            </a:solidFill>
            <a:prstDash val="solid"/>
          </a:ln>
        </p:spPr>
      </p:sp>
      <p:sp>
        <p:nvSpPr>
          <p:cNvPr id="5" name="Text 3"/>
          <p:cNvSpPr/>
          <p:nvPr/>
        </p:nvSpPr>
        <p:spPr>
          <a:xfrm>
            <a:off x="457200" y="1188720"/>
            <a:ext cx="8229600" cy="3474720"/>
          </a:xfrm>
          <a:prstGeom prst="rect">
            <a:avLst/>
          </a:prstGeom>
          <a:noFill/>
          <a:ln/>
        </p:spPr>
        <p:txBody>
          <a:bodyPr wrap="square" rtlCol="0" anchor="t"/>
          <a:lstStyle/>
          <a:p>
            <a:pPr indent="0" marL="0">
              <a:lnSpc>
                <a:spcPct val="140000"/>
              </a:lnSpc>
              <a:buNone/>
            </a:pPr>
            <a:r>
              <a:rPr lang="en-US" sz="1400" dirty="0">
                <a:solidFill>
                  <a:srgbClr val="2D2D2D"/>
                </a:solidFill>
                <a:latin typeface="Calibri" pitchFamily="34" charset="0"/>
                <a:ea typeface="Calibri" pitchFamily="34" charset="-122"/>
                <a:cs typeface="Calibri" pitchFamily="34" charset="-120"/>
              </a:rPr>
              <a:t>Crop yield prediction is a critical challenge in agriculture that directly impacts food security, economic planning, and resource allocation. This project leverages machine learning algorithms to predict crop yields based on environmental, soil, and agricultural parameters.</a:t>
            </a:r>
            <a:endParaRPr lang="en-US" sz="1400" dirty="0"/>
          </a:p>
          <a:p>
            <a:pPr indent="0" marL="0">
              <a:lnSpc>
                <a:spcPct val="140000"/>
              </a:lnSpc>
              <a:buNone/>
            </a:pPr>
            <a:endParaRPr lang="en-US" sz="1400" dirty="0"/>
          </a:p>
          <a:p>
            <a:pPr indent="0" marL="0">
              <a:lnSpc>
                <a:spcPct val="140000"/>
              </a:lnSpc>
              <a:buNone/>
            </a:pPr>
            <a:r>
              <a:rPr lang="en-US" sz="1400" dirty="0">
                <a:solidFill>
                  <a:srgbClr val="2D2D2D"/>
                </a:solidFill>
                <a:latin typeface="Calibri" pitchFamily="34" charset="0"/>
                <a:ea typeface="Calibri" pitchFamily="34" charset="-122"/>
                <a:cs typeface="Calibri" pitchFamily="34" charset="-120"/>
              </a:rPr>
              <a:t>By analyzing features such as rainfall, temperature, humidity, soil pH, and nutrient levels (N, P, K), the system trains multiple regression models — including Linear Regression, Random Forest, Gradient Boosting, and SVR — to identify the most accurate predictor.</a:t>
            </a:r>
            <a:endParaRPr lang="en-US" sz="1400" dirty="0"/>
          </a:p>
          <a:p>
            <a:pPr indent="0" marL="0">
              <a:lnSpc>
                <a:spcPct val="140000"/>
              </a:lnSpc>
              <a:buNone/>
            </a:pPr>
            <a:endParaRPr lang="en-US" sz="1400" dirty="0"/>
          </a:p>
          <a:p>
            <a:pPr indent="0" marL="0">
              <a:lnSpc>
                <a:spcPct val="140000"/>
              </a:lnSpc>
              <a:buNone/>
            </a:pPr>
            <a:r>
              <a:rPr lang="en-US" sz="1400" dirty="0">
                <a:solidFill>
                  <a:srgbClr val="2D2D2D"/>
                </a:solidFill>
                <a:latin typeface="Calibri" pitchFamily="34" charset="0"/>
                <a:ea typeface="Calibri" pitchFamily="34" charset="-122"/>
                <a:cs typeface="Calibri" pitchFamily="34" charset="-120"/>
              </a:rPr>
              <a:t>The project demonstrates that ensemble methods like Random Forest and Gradient Boosting significantly outperform traditional regression, achieving R² scores above 0.95 on the test dataset with 2000 samples across 8 crop types.</a:t>
            </a:r>
            <a:endParaRPr lang="en-US" sz="1400" dirty="0"/>
          </a:p>
        </p:txBody>
      </p:sp>
      <p:sp>
        <p:nvSpPr>
          <p:cNvPr id="6" name="Text 4"/>
          <p:cNvSpPr/>
          <p:nvPr/>
        </p:nvSpPr>
        <p:spPr>
          <a:xfrm>
            <a:off x="8046720" y="4754880"/>
            <a:ext cx="914400" cy="274320"/>
          </a:xfrm>
          <a:prstGeom prst="rect">
            <a:avLst/>
          </a:prstGeom>
          <a:noFill/>
          <a:ln/>
        </p:spPr>
        <p:txBody>
          <a:bodyPr wrap="square" rtlCol="0" anchor="ctr"/>
          <a:lstStyle/>
          <a:p>
            <a:pPr algn="r" indent="0" marL="0">
              <a:buNone/>
            </a:pPr>
            <a:r>
              <a:rPr lang="en-US" sz="1000" dirty="0">
                <a:solidFill>
                  <a:srgbClr val="6B7B6E"/>
                </a:solidFill>
              </a:rPr>
              <a:t>2 / 12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3A2D"/>
        </a:solidFill>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rtlCol="0" anchor="ctr"/>
          <a:lstStyle/>
          <a:p>
            <a:pPr indent="0" marL="0">
              <a:buNone/>
            </a:pPr>
            <a:r>
              <a:rPr lang="en-US" sz="3200" b="1" dirty="0">
                <a:solidFill>
                  <a:srgbClr val="97BC62"/>
                </a:solidFill>
                <a:latin typeface="Georgia" pitchFamily="34" charset="0"/>
                <a:ea typeface="Georgia" pitchFamily="34" charset="-122"/>
                <a:cs typeface="Georgia" pitchFamily="34" charset="-120"/>
              </a:rPr>
              <a:t>PROBLEM STATEMENT</a:t>
            </a:r>
            <a:endParaRPr lang="en-US" sz="3200" dirty="0"/>
          </a:p>
        </p:txBody>
      </p:sp>
      <p:sp>
        <p:nvSpPr>
          <p:cNvPr id="3" name="Shape 1"/>
          <p:cNvSpPr/>
          <p:nvPr/>
        </p:nvSpPr>
        <p:spPr>
          <a:xfrm>
            <a:off x="457200" y="914400"/>
            <a:ext cx="1828800" cy="0"/>
          </a:xfrm>
          <a:prstGeom prst="line">
            <a:avLst/>
          </a:prstGeom>
          <a:noFill/>
          <a:ln w="38100">
            <a:solidFill>
              <a:srgbClr val="97BC62"/>
            </a:solidFill>
            <a:prstDash val="solid"/>
          </a:ln>
        </p:spPr>
      </p:sp>
      <p:sp>
        <p:nvSpPr>
          <p:cNvPr id="4" name="Shape 2"/>
          <p:cNvSpPr/>
          <p:nvPr/>
        </p:nvSpPr>
        <p:spPr>
          <a:xfrm>
            <a:off x="457200" y="1188720"/>
            <a:ext cx="54864" cy="640080"/>
          </a:xfrm>
          <a:prstGeom prst="rect">
            <a:avLst/>
          </a:prstGeom>
          <a:solidFill>
            <a:srgbClr val="97BC62"/>
          </a:solidFill>
          <a:ln/>
        </p:spPr>
      </p:sp>
      <p:sp>
        <p:nvSpPr>
          <p:cNvPr id="5" name="Text 3"/>
          <p:cNvSpPr/>
          <p:nvPr/>
        </p:nvSpPr>
        <p:spPr>
          <a:xfrm>
            <a:off x="731520" y="1188720"/>
            <a:ext cx="7772400" cy="320040"/>
          </a:xfrm>
          <a:prstGeom prst="rect">
            <a:avLst/>
          </a:prstGeom>
          <a:noFill/>
          <a:ln/>
        </p:spPr>
        <p:txBody>
          <a:bodyPr wrap="square" lIns="0" tIns="0" rIns="0" bIns="0"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Unpredictable Yields</a:t>
            </a:r>
            <a:endParaRPr lang="en-US" sz="1600" dirty="0"/>
          </a:p>
        </p:txBody>
      </p:sp>
      <p:sp>
        <p:nvSpPr>
          <p:cNvPr id="6" name="Text 4"/>
          <p:cNvSpPr/>
          <p:nvPr/>
        </p:nvSpPr>
        <p:spPr>
          <a:xfrm>
            <a:off x="731520" y="1508760"/>
            <a:ext cx="7772400" cy="320040"/>
          </a:xfrm>
          <a:prstGeom prst="rect">
            <a:avLst/>
          </a:prstGeom>
          <a:noFill/>
          <a:ln/>
        </p:spPr>
        <p:txBody>
          <a:bodyPr wrap="square" lIns="0" tIns="0" rIns="0" bIns="0" rtlCol="0" anchor="ctr"/>
          <a:lstStyle/>
          <a:p>
            <a:pPr indent="0" marL="0">
              <a:buNone/>
            </a:pPr>
            <a:r>
              <a:rPr lang="en-US" sz="1200" dirty="0">
                <a:solidFill>
                  <a:srgbClr val="6B7B6E"/>
                </a:solidFill>
                <a:latin typeface="Calibri" pitchFamily="34" charset="0"/>
                <a:ea typeface="Calibri" pitchFamily="34" charset="-122"/>
                <a:cs typeface="Calibri" pitchFamily="34" charset="-120"/>
              </a:rPr>
              <a:t>Farmers face uncertainty due to changing weather patterns and soil conditions, making traditional estimation unreliable.</a:t>
            </a:r>
            <a:endParaRPr lang="en-US" sz="1200" dirty="0"/>
          </a:p>
        </p:txBody>
      </p:sp>
      <p:sp>
        <p:nvSpPr>
          <p:cNvPr id="7" name="Shape 5"/>
          <p:cNvSpPr/>
          <p:nvPr/>
        </p:nvSpPr>
        <p:spPr>
          <a:xfrm>
            <a:off x="457200" y="2148840"/>
            <a:ext cx="54864" cy="640080"/>
          </a:xfrm>
          <a:prstGeom prst="rect">
            <a:avLst/>
          </a:prstGeom>
          <a:solidFill>
            <a:srgbClr val="97BC62"/>
          </a:solidFill>
          <a:ln/>
        </p:spPr>
      </p:sp>
      <p:sp>
        <p:nvSpPr>
          <p:cNvPr id="8" name="Text 6"/>
          <p:cNvSpPr/>
          <p:nvPr/>
        </p:nvSpPr>
        <p:spPr>
          <a:xfrm>
            <a:off x="731520" y="2148840"/>
            <a:ext cx="7772400" cy="320040"/>
          </a:xfrm>
          <a:prstGeom prst="rect">
            <a:avLst/>
          </a:prstGeom>
          <a:noFill/>
          <a:ln/>
        </p:spPr>
        <p:txBody>
          <a:bodyPr wrap="square" lIns="0" tIns="0" rIns="0" bIns="0"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Resource Wastage</a:t>
            </a:r>
            <a:endParaRPr lang="en-US" sz="1600" dirty="0"/>
          </a:p>
        </p:txBody>
      </p:sp>
      <p:sp>
        <p:nvSpPr>
          <p:cNvPr id="9" name="Text 7"/>
          <p:cNvSpPr/>
          <p:nvPr/>
        </p:nvSpPr>
        <p:spPr>
          <a:xfrm>
            <a:off x="731520" y="2468880"/>
            <a:ext cx="7772400" cy="320040"/>
          </a:xfrm>
          <a:prstGeom prst="rect">
            <a:avLst/>
          </a:prstGeom>
          <a:noFill/>
          <a:ln/>
        </p:spPr>
        <p:txBody>
          <a:bodyPr wrap="square" lIns="0" tIns="0" rIns="0" bIns="0" rtlCol="0" anchor="ctr"/>
          <a:lstStyle/>
          <a:p>
            <a:pPr indent="0" marL="0">
              <a:buNone/>
            </a:pPr>
            <a:r>
              <a:rPr lang="en-US" sz="1200" dirty="0">
                <a:solidFill>
                  <a:srgbClr val="6B7B6E"/>
                </a:solidFill>
                <a:latin typeface="Calibri" pitchFamily="34" charset="0"/>
                <a:ea typeface="Calibri" pitchFamily="34" charset="-122"/>
                <a:cs typeface="Calibri" pitchFamily="34" charset="-120"/>
              </a:rPr>
              <a:t>Without accurate predictions, resources like water, fertilizers, and labor are often over- or under-allocated.</a:t>
            </a:r>
            <a:endParaRPr lang="en-US" sz="1200" dirty="0"/>
          </a:p>
        </p:txBody>
      </p:sp>
      <p:sp>
        <p:nvSpPr>
          <p:cNvPr id="10" name="Shape 8"/>
          <p:cNvSpPr/>
          <p:nvPr/>
        </p:nvSpPr>
        <p:spPr>
          <a:xfrm>
            <a:off x="457200" y="3108960"/>
            <a:ext cx="54864" cy="640080"/>
          </a:xfrm>
          <a:prstGeom prst="rect">
            <a:avLst/>
          </a:prstGeom>
          <a:solidFill>
            <a:srgbClr val="97BC62"/>
          </a:solidFill>
          <a:ln/>
        </p:spPr>
      </p:sp>
      <p:sp>
        <p:nvSpPr>
          <p:cNvPr id="11" name="Text 9"/>
          <p:cNvSpPr/>
          <p:nvPr/>
        </p:nvSpPr>
        <p:spPr>
          <a:xfrm>
            <a:off x="731520" y="3108960"/>
            <a:ext cx="7772400" cy="320040"/>
          </a:xfrm>
          <a:prstGeom prst="rect">
            <a:avLst/>
          </a:prstGeom>
          <a:noFill/>
          <a:ln/>
        </p:spPr>
        <p:txBody>
          <a:bodyPr wrap="square" lIns="0" tIns="0" rIns="0" bIns="0"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Food Security Risk</a:t>
            </a:r>
            <a:endParaRPr lang="en-US" sz="1600" dirty="0"/>
          </a:p>
        </p:txBody>
      </p:sp>
      <p:sp>
        <p:nvSpPr>
          <p:cNvPr id="12" name="Text 10"/>
          <p:cNvSpPr/>
          <p:nvPr/>
        </p:nvSpPr>
        <p:spPr>
          <a:xfrm>
            <a:off x="731520" y="3429000"/>
            <a:ext cx="7772400" cy="320040"/>
          </a:xfrm>
          <a:prstGeom prst="rect">
            <a:avLst/>
          </a:prstGeom>
          <a:noFill/>
          <a:ln/>
        </p:spPr>
        <p:txBody>
          <a:bodyPr wrap="square" lIns="0" tIns="0" rIns="0" bIns="0" rtlCol="0" anchor="ctr"/>
          <a:lstStyle/>
          <a:p>
            <a:pPr indent="0" marL="0">
              <a:buNone/>
            </a:pPr>
            <a:r>
              <a:rPr lang="en-US" sz="1200" dirty="0">
                <a:solidFill>
                  <a:srgbClr val="6B7B6E"/>
                </a:solidFill>
                <a:latin typeface="Calibri" pitchFamily="34" charset="0"/>
                <a:ea typeface="Calibri" pitchFamily="34" charset="-122"/>
                <a:cs typeface="Calibri" pitchFamily="34" charset="-120"/>
              </a:rPr>
              <a:t>Inaccurate yield forecasts lead to supply chain disruptions, price volatility, and food insecurity.</a:t>
            </a:r>
            <a:endParaRPr lang="en-US" sz="1200" dirty="0"/>
          </a:p>
        </p:txBody>
      </p:sp>
      <p:sp>
        <p:nvSpPr>
          <p:cNvPr id="13" name="Shape 11"/>
          <p:cNvSpPr/>
          <p:nvPr/>
        </p:nvSpPr>
        <p:spPr>
          <a:xfrm>
            <a:off x="457200" y="4069080"/>
            <a:ext cx="54864" cy="640080"/>
          </a:xfrm>
          <a:prstGeom prst="rect">
            <a:avLst/>
          </a:prstGeom>
          <a:solidFill>
            <a:srgbClr val="97BC62"/>
          </a:solidFill>
          <a:ln/>
        </p:spPr>
      </p:sp>
      <p:sp>
        <p:nvSpPr>
          <p:cNvPr id="14" name="Text 12"/>
          <p:cNvSpPr/>
          <p:nvPr/>
        </p:nvSpPr>
        <p:spPr>
          <a:xfrm>
            <a:off x="731520" y="4069080"/>
            <a:ext cx="7772400" cy="320040"/>
          </a:xfrm>
          <a:prstGeom prst="rect">
            <a:avLst/>
          </a:prstGeom>
          <a:noFill/>
          <a:ln/>
        </p:spPr>
        <p:txBody>
          <a:bodyPr wrap="square" lIns="0" tIns="0" rIns="0" bIns="0"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Need for Data-Driven Solutions</a:t>
            </a:r>
            <a:endParaRPr lang="en-US" sz="1600" dirty="0"/>
          </a:p>
        </p:txBody>
      </p:sp>
      <p:sp>
        <p:nvSpPr>
          <p:cNvPr id="15" name="Text 13"/>
          <p:cNvSpPr/>
          <p:nvPr/>
        </p:nvSpPr>
        <p:spPr>
          <a:xfrm>
            <a:off x="731520" y="4389120"/>
            <a:ext cx="7772400" cy="320040"/>
          </a:xfrm>
          <a:prstGeom prst="rect">
            <a:avLst/>
          </a:prstGeom>
          <a:noFill/>
          <a:ln/>
        </p:spPr>
        <p:txBody>
          <a:bodyPr wrap="square" lIns="0" tIns="0" rIns="0" bIns="0" rtlCol="0" anchor="ctr"/>
          <a:lstStyle/>
          <a:p>
            <a:pPr indent="0" marL="0">
              <a:buNone/>
            </a:pPr>
            <a:r>
              <a:rPr lang="en-US" sz="1200" dirty="0">
                <a:solidFill>
                  <a:srgbClr val="6B7B6E"/>
                </a:solidFill>
                <a:latin typeface="Calibri" pitchFamily="34" charset="0"/>
                <a:ea typeface="Calibri" pitchFamily="34" charset="-122"/>
                <a:cs typeface="Calibri" pitchFamily="34" charset="-120"/>
              </a:rPr>
              <a:t>Traditional methods rely on experience; ML can process complex multi-variable relationships for better accuracy.</a:t>
            </a:r>
            <a:endParaRPr lang="en-US" sz="1200" dirty="0"/>
          </a:p>
        </p:txBody>
      </p:sp>
      <p:sp>
        <p:nvSpPr>
          <p:cNvPr id="16" name="Text 14"/>
          <p:cNvSpPr/>
          <p:nvPr/>
        </p:nvSpPr>
        <p:spPr>
          <a:xfrm>
            <a:off x="8046720" y="4754880"/>
            <a:ext cx="914400" cy="274320"/>
          </a:xfrm>
          <a:prstGeom prst="rect">
            <a:avLst/>
          </a:prstGeom>
          <a:noFill/>
          <a:ln/>
        </p:spPr>
        <p:txBody>
          <a:bodyPr wrap="square" rtlCol="0" anchor="ctr"/>
          <a:lstStyle/>
          <a:p>
            <a:pPr algn="r" indent="0" marL="0">
              <a:buNone/>
            </a:pPr>
            <a:r>
              <a:rPr lang="en-US" sz="1000" dirty="0">
                <a:solidFill>
                  <a:srgbClr val="6B7B6E"/>
                </a:solidFill>
              </a:rPr>
              <a:t>3 / 12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2C5F2D"/>
          </a:solidFill>
          <a:ln/>
        </p:spPr>
      </p:sp>
      <p:sp>
        <p:nvSpPr>
          <p:cNvPr id="3" name="Text 1"/>
          <p:cNvSpPr/>
          <p:nvPr/>
        </p:nvSpPr>
        <p:spPr>
          <a:xfrm>
            <a:off x="457200" y="274320"/>
            <a:ext cx="8229600" cy="640080"/>
          </a:xfrm>
          <a:prstGeom prst="rect">
            <a:avLst/>
          </a:prstGeom>
          <a:noFill/>
          <a:ln/>
        </p:spPr>
        <p:txBody>
          <a:bodyPr wrap="square" rtlCol="0" anchor="ctr"/>
          <a:lstStyle/>
          <a:p>
            <a:pPr indent="0" marL="0">
              <a:buNone/>
            </a:pPr>
            <a:r>
              <a:rPr lang="en-US" sz="3200" b="1" dirty="0">
                <a:solidFill>
                  <a:srgbClr val="1B3A2D"/>
                </a:solidFill>
                <a:latin typeface="Georgia" pitchFamily="34" charset="0"/>
                <a:ea typeface="Georgia" pitchFamily="34" charset="-122"/>
                <a:cs typeface="Georgia" pitchFamily="34" charset="-120"/>
              </a:rPr>
              <a:t>TOOLS &amp; TECHNOLOGIES</a:t>
            </a:r>
            <a:endParaRPr lang="en-US" sz="3200" dirty="0"/>
          </a:p>
        </p:txBody>
      </p:sp>
      <p:sp>
        <p:nvSpPr>
          <p:cNvPr id="4" name="Shape 2"/>
          <p:cNvSpPr/>
          <p:nvPr/>
        </p:nvSpPr>
        <p:spPr>
          <a:xfrm>
            <a:off x="457200" y="914400"/>
            <a:ext cx="1828800" cy="0"/>
          </a:xfrm>
          <a:prstGeom prst="line">
            <a:avLst/>
          </a:prstGeom>
          <a:noFill/>
          <a:ln w="38100">
            <a:solidFill>
              <a:srgbClr val="97BC62"/>
            </a:solidFill>
            <a:prstDash val="solid"/>
          </a:ln>
        </p:spPr>
      </p:sp>
      <p:sp>
        <p:nvSpPr>
          <p:cNvPr id="5" name="Shape 3"/>
          <p:cNvSpPr/>
          <p:nvPr/>
        </p:nvSpPr>
        <p:spPr>
          <a:xfrm>
            <a:off x="457200" y="1188720"/>
            <a:ext cx="2560320" cy="1371600"/>
          </a:xfrm>
          <a:prstGeom prst="roundRect">
            <a:avLst>
              <a:gd name="adj" fmla="val 6667"/>
            </a:avLst>
          </a:prstGeom>
          <a:solidFill>
            <a:srgbClr val="E8F0E3"/>
          </a:solidFill>
          <a:ln/>
        </p:spPr>
      </p:sp>
      <p:sp>
        <p:nvSpPr>
          <p:cNvPr id="6" name="Shape 4"/>
          <p:cNvSpPr/>
          <p:nvPr/>
        </p:nvSpPr>
        <p:spPr>
          <a:xfrm>
            <a:off x="457200" y="1188720"/>
            <a:ext cx="2560320" cy="54864"/>
          </a:xfrm>
          <a:prstGeom prst="rect">
            <a:avLst/>
          </a:prstGeom>
          <a:solidFill>
            <a:srgbClr val="2C5F2D"/>
          </a:solidFill>
          <a:ln/>
        </p:spPr>
      </p:sp>
      <p:sp>
        <p:nvSpPr>
          <p:cNvPr id="7" name="Text 5"/>
          <p:cNvSpPr/>
          <p:nvPr/>
        </p:nvSpPr>
        <p:spPr>
          <a:xfrm>
            <a:off x="457200" y="1417320"/>
            <a:ext cx="2560320" cy="457200"/>
          </a:xfrm>
          <a:prstGeom prst="rect">
            <a:avLst/>
          </a:prstGeom>
          <a:noFill/>
          <a:ln/>
        </p:spPr>
        <p:txBody>
          <a:bodyPr wrap="square" rtlCol="0" anchor="ctr"/>
          <a:lstStyle/>
          <a:p>
            <a:pPr algn="ctr" indent="0" marL="0">
              <a:buNone/>
            </a:pPr>
            <a:r>
              <a:rPr lang="en-US" sz="1600" b="1" dirty="0">
                <a:solidFill>
                  <a:srgbClr val="1B3A2D"/>
                </a:solidFill>
                <a:latin typeface="Georgia" pitchFamily="34" charset="0"/>
                <a:ea typeface="Georgia" pitchFamily="34" charset="-122"/>
                <a:cs typeface="Georgia" pitchFamily="34" charset="-120"/>
              </a:rPr>
              <a:t>Python 3.x</a:t>
            </a:r>
            <a:endParaRPr lang="en-US" sz="1600" dirty="0"/>
          </a:p>
        </p:txBody>
      </p:sp>
      <p:sp>
        <p:nvSpPr>
          <p:cNvPr id="8" name="Text 6"/>
          <p:cNvSpPr/>
          <p:nvPr/>
        </p:nvSpPr>
        <p:spPr>
          <a:xfrm>
            <a:off x="457200" y="1874520"/>
            <a:ext cx="2560320" cy="365760"/>
          </a:xfrm>
          <a:prstGeom prst="rect">
            <a:avLst/>
          </a:prstGeom>
          <a:noFill/>
          <a:ln/>
        </p:spPr>
        <p:txBody>
          <a:bodyPr wrap="square" rtlCol="0" anchor="ctr"/>
          <a:lstStyle/>
          <a:p>
            <a:pPr algn="ctr" indent="0" marL="0">
              <a:buNone/>
            </a:pPr>
            <a:r>
              <a:rPr lang="en-US" sz="1200" dirty="0">
                <a:solidFill>
                  <a:srgbClr val="6B7B6E"/>
                </a:solidFill>
                <a:latin typeface="Calibri" pitchFamily="34" charset="0"/>
                <a:ea typeface="Calibri" pitchFamily="34" charset="-122"/>
                <a:cs typeface="Calibri" pitchFamily="34" charset="-120"/>
              </a:rPr>
              <a:t>Language</a:t>
            </a:r>
            <a:endParaRPr lang="en-US" sz="1200" dirty="0"/>
          </a:p>
        </p:txBody>
      </p:sp>
      <p:sp>
        <p:nvSpPr>
          <p:cNvPr id="9" name="Shape 7"/>
          <p:cNvSpPr/>
          <p:nvPr/>
        </p:nvSpPr>
        <p:spPr>
          <a:xfrm>
            <a:off x="3291840" y="1188720"/>
            <a:ext cx="2560320" cy="1371600"/>
          </a:xfrm>
          <a:prstGeom prst="roundRect">
            <a:avLst>
              <a:gd name="adj" fmla="val 6667"/>
            </a:avLst>
          </a:prstGeom>
          <a:solidFill>
            <a:srgbClr val="E8F0E3"/>
          </a:solidFill>
          <a:ln/>
        </p:spPr>
      </p:sp>
      <p:sp>
        <p:nvSpPr>
          <p:cNvPr id="10" name="Shape 8"/>
          <p:cNvSpPr/>
          <p:nvPr/>
        </p:nvSpPr>
        <p:spPr>
          <a:xfrm>
            <a:off x="3291840" y="1188720"/>
            <a:ext cx="2560320" cy="54864"/>
          </a:xfrm>
          <a:prstGeom prst="rect">
            <a:avLst/>
          </a:prstGeom>
          <a:solidFill>
            <a:srgbClr val="2C5F2D"/>
          </a:solidFill>
          <a:ln/>
        </p:spPr>
      </p:sp>
      <p:sp>
        <p:nvSpPr>
          <p:cNvPr id="11" name="Text 9"/>
          <p:cNvSpPr/>
          <p:nvPr/>
        </p:nvSpPr>
        <p:spPr>
          <a:xfrm>
            <a:off x="3291840" y="1417320"/>
            <a:ext cx="2560320" cy="457200"/>
          </a:xfrm>
          <a:prstGeom prst="rect">
            <a:avLst/>
          </a:prstGeom>
          <a:noFill/>
          <a:ln/>
        </p:spPr>
        <p:txBody>
          <a:bodyPr wrap="square" rtlCol="0" anchor="ctr"/>
          <a:lstStyle/>
          <a:p>
            <a:pPr algn="ctr" indent="0" marL="0">
              <a:buNone/>
            </a:pPr>
            <a:r>
              <a:rPr lang="en-US" sz="1600" b="1" dirty="0">
                <a:solidFill>
                  <a:srgbClr val="1B3A2D"/>
                </a:solidFill>
                <a:latin typeface="Georgia" pitchFamily="34" charset="0"/>
                <a:ea typeface="Georgia" pitchFamily="34" charset="-122"/>
                <a:cs typeface="Georgia" pitchFamily="34" charset="-120"/>
              </a:rPr>
              <a:t>Pandas</a:t>
            </a:r>
            <a:endParaRPr lang="en-US" sz="1600" dirty="0"/>
          </a:p>
        </p:txBody>
      </p:sp>
      <p:sp>
        <p:nvSpPr>
          <p:cNvPr id="12" name="Text 10"/>
          <p:cNvSpPr/>
          <p:nvPr/>
        </p:nvSpPr>
        <p:spPr>
          <a:xfrm>
            <a:off x="3291840" y="1874520"/>
            <a:ext cx="2560320" cy="365760"/>
          </a:xfrm>
          <a:prstGeom prst="rect">
            <a:avLst/>
          </a:prstGeom>
          <a:noFill/>
          <a:ln/>
        </p:spPr>
        <p:txBody>
          <a:bodyPr wrap="square" rtlCol="0" anchor="ctr"/>
          <a:lstStyle/>
          <a:p>
            <a:pPr algn="ctr" indent="0" marL="0">
              <a:buNone/>
            </a:pPr>
            <a:r>
              <a:rPr lang="en-US" sz="1200" dirty="0">
                <a:solidFill>
                  <a:srgbClr val="6B7B6E"/>
                </a:solidFill>
                <a:latin typeface="Calibri" pitchFamily="34" charset="0"/>
                <a:ea typeface="Calibri" pitchFamily="34" charset="-122"/>
                <a:cs typeface="Calibri" pitchFamily="34" charset="-120"/>
              </a:rPr>
              <a:t>Data Processing</a:t>
            </a:r>
            <a:endParaRPr lang="en-US" sz="1200" dirty="0"/>
          </a:p>
        </p:txBody>
      </p:sp>
      <p:sp>
        <p:nvSpPr>
          <p:cNvPr id="13" name="Shape 11"/>
          <p:cNvSpPr/>
          <p:nvPr/>
        </p:nvSpPr>
        <p:spPr>
          <a:xfrm>
            <a:off x="6126480" y="1188720"/>
            <a:ext cx="2560320" cy="1371600"/>
          </a:xfrm>
          <a:prstGeom prst="roundRect">
            <a:avLst>
              <a:gd name="adj" fmla="val 6667"/>
            </a:avLst>
          </a:prstGeom>
          <a:solidFill>
            <a:srgbClr val="E8F0E3"/>
          </a:solidFill>
          <a:ln/>
        </p:spPr>
      </p:sp>
      <p:sp>
        <p:nvSpPr>
          <p:cNvPr id="14" name="Shape 12"/>
          <p:cNvSpPr/>
          <p:nvPr/>
        </p:nvSpPr>
        <p:spPr>
          <a:xfrm>
            <a:off x="6126480" y="1188720"/>
            <a:ext cx="2560320" cy="54864"/>
          </a:xfrm>
          <a:prstGeom prst="rect">
            <a:avLst/>
          </a:prstGeom>
          <a:solidFill>
            <a:srgbClr val="2C5F2D"/>
          </a:solidFill>
          <a:ln/>
        </p:spPr>
      </p:sp>
      <p:sp>
        <p:nvSpPr>
          <p:cNvPr id="15" name="Text 13"/>
          <p:cNvSpPr/>
          <p:nvPr/>
        </p:nvSpPr>
        <p:spPr>
          <a:xfrm>
            <a:off x="6126480" y="1417320"/>
            <a:ext cx="2560320" cy="457200"/>
          </a:xfrm>
          <a:prstGeom prst="rect">
            <a:avLst/>
          </a:prstGeom>
          <a:noFill/>
          <a:ln/>
        </p:spPr>
        <p:txBody>
          <a:bodyPr wrap="square" rtlCol="0" anchor="ctr"/>
          <a:lstStyle/>
          <a:p>
            <a:pPr algn="ctr" indent="0" marL="0">
              <a:buNone/>
            </a:pPr>
            <a:r>
              <a:rPr lang="en-US" sz="1600" b="1" dirty="0">
                <a:solidFill>
                  <a:srgbClr val="1B3A2D"/>
                </a:solidFill>
                <a:latin typeface="Georgia" pitchFamily="34" charset="0"/>
                <a:ea typeface="Georgia" pitchFamily="34" charset="-122"/>
                <a:cs typeface="Georgia" pitchFamily="34" charset="-120"/>
              </a:rPr>
              <a:t>NumPy</a:t>
            </a:r>
            <a:endParaRPr lang="en-US" sz="1600" dirty="0"/>
          </a:p>
        </p:txBody>
      </p:sp>
      <p:sp>
        <p:nvSpPr>
          <p:cNvPr id="16" name="Text 14"/>
          <p:cNvSpPr/>
          <p:nvPr/>
        </p:nvSpPr>
        <p:spPr>
          <a:xfrm>
            <a:off x="6126480" y="1874520"/>
            <a:ext cx="2560320" cy="365760"/>
          </a:xfrm>
          <a:prstGeom prst="rect">
            <a:avLst/>
          </a:prstGeom>
          <a:noFill/>
          <a:ln/>
        </p:spPr>
        <p:txBody>
          <a:bodyPr wrap="square" rtlCol="0" anchor="ctr"/>
          <a:lstStyle/>
          <a:p>
            <a:pPr algn="ctr" indent="0" marL="0">
              <a:buNone/>
            </a:pPr>
            <a:r>
              <a:rPr lang="en-US" sz="1200" dirty="0">
                <a:solidFill>
                  <a:srgbClr val="6B7B6E"/>
                </a:solidFill>
                <a:latin typeface="Calibri" pitchFamily="34" charset="0"/>
                <a:ea typeface="Calibri" pitchFamily="34" charset="-122"/>
                <a:cs typeface="Calibri" pitchFamily="34" charset="-120"/>
              </a:rPr>
              <a:t>Computation</a:t>
            </a:r>
            <a:endParaRPr lang="en-US" sz="1200" dirty="0"/>
          </a:p>
        </p:txBody>
      </p:sp>
      <p:sp>
        <p:nvSpPr>
          <p:cNvPr id="17" name="Shape 15"/>
          <p:cNvSpPr/>
          <p:nvPr/>
        </p:nvSpPr>
        <p:spPr>
          <a:xfrm>
            <a:off x="457200" y="2834640"/>
            <a:ext cx="2560320" cy="1371600"/>
          </a:xfrm>
          <a:prstGeom prst="roundRect">
            <a:avLst>
              <a:gd name="adj" fmla="val 6667"/>
            </a:avLst>
          </a:prstGeom>
          <a:solidFill>
            <a:srgbClr val="E8F0E3"/>
          </a:solidFill>
          <a:ln/>
        </p:spPr>
      </p:sp>
      <p:sp>
        <p:nvSpPr>
          <p:cNvPr id="18" name="Shape 16"/>
          <p:cNvSpPr/>
          <p:nvPr/>
        </p:nvSpPr>
        <p:spPr>
          <a:xfrm>
            <a:off x="457200" y="2834640"/>
            <a:ext cx="2560320" cy="54864"/>
          </a:xfrm>
          <a:prstGeom prst="rect">
            <a:avLst/>
          </a:prstGeom>
          <a:solidFill>
            <a:srgbClr val="2C5F2D"/>
          </a:solidFill>
          <a:ln/>
        </p:spPr>
      </p:sp>
      <p:sp>
        <p:nvSpPr>
          <p:cNvPr id="19" name="Text 17"/>
          <p:cNvSpPr/>
          <p:nvPr/>
        </p:nvSpPr>
        <p:spPr>
          <a:xfrm>
            <a:off x="457200" y="3063240"/>
            <a:ext cx="2560320" cy="457200"/>
          </a:xfrm>
          <a:prstGeom prst="rect">
            <a:avLst/>
          </a:prstGeom>
          <a:noFill/>
          <a:ln/>
        </p:spPr>
        <p:txBody>
          <a:bodyPr wrap="square" rtlCol="0" anchor="ctr"/>
          <a:lstStyle/>
          <a:p>
            <a:pPr algn="ctr" indent="0" marL="0">
              <a:buNone/>
            </a:pPr>
            <a:r>
              <a:rPr lang="en-US" sz="1600" b="1" dirty="0">
                <a:solidFill>
                  <a:srgbClr val="1B3A2D"/>
                </a:solidFill>
                <a:latin typeface="Georgia" pitchFamily="34" charset="0"/>
                <a:ea typeface="Georgia" pitchFamily="34" charset="-122"/>
                <a:cs typeface="Georgia" pitchFamily="34" charset="-120"/>
              </a:rPr>
              <a:t>Scikit-learn</a:t>
            </a:r>
            <a:endParaRPr lang="en-US" sz="1600" dirty="0"/>
          </a:p>
        </p:txBody>
      </p:sp>
      <p:sp>
        <p:nvSpPr>
          <p:cNvPr id="20" name="Text 18"/>
          <p:cNvSpPr/>
          <p:nvPr/>
        </p:nvSpPr>
        <p:spPr>
          <a:xfrm>
            <a:off x="457200" y="3520440"/>
            <a:ext cx="2560320" cy="365760"/>
          </a:xfrm>
          <a:prstGeom prst="rect">
            <a:avLst/>
          </a:prstGeom>
          <a:noFill/>
          <a:ln/>
        </p:spPr>
        <p:txBody>
          <a:bodyPr wrap="square" rtlCol="0" anchor="ctr"/>
          <a:lstStyle/>
          <a:p>
            <a:pPr algn="ctr" indent="0" marL="0">
              <a:buNone/>
            </a:pPr>
            <a:r>
              <a:rPr lang="en-US" sz="1200" dirty="0">
                <a:solidFill>
                  <a:srgbClr val="6B7B6E"/>
                </a:solidFill>
                <a:latin typeface="Calibri" pitchFamily="34" charset="0"/>
                <a:ea typeface="Calibri" pitchFamily="34" charset="-122"/>
                <a:cs typeface="Calibri" pitchFamily="34" charset="-120"/>
              </a:rPr>
              <a:t>ML Framework</a:t>
            </a:r>
            <a:endParaRPr lang="en-US" sz="1200" dirty="0"/>
          </a:p>
        </p:txBody>
      </p:sp>
      <p:sp>
        <p:nvSpPr>
          <p:cNvPr id="21" name="Shape 19"/>
          <p:cNvSpPr/>
          <p:nvPr/>
        </p:nvSpPr>
        <p:spPr>
          <a:xfrm>
            <a:off x="3291840" y="2834640"/>
            <a:ext cx="2560320" cy="1371600"/>
          </a:xfrm>
          <a:prstGeom prst="roundRect">
            <a:avLst>
              <a:gd name="adj" fmla="val 6667"/>
            </a:avLst>
          </a:prstGeom>
          <a:solidFill>
            <a:srgbClr val="E8F0E3"/>
          </a:solidFill>
          <a:ln/>
        </p:spPr>
      </p:sp>
      <p:sp>
        <p:nvSpPr>
          <p:cNvPr id="22" name="Shape 20"/>
          <p:cNvSpPr/>
          <p:nvPr/>
        </p:nvSpPr>
        <p:spPr>
          <a:xfrm>
            <a:off x="3291840" y="2834640"/>
            <a:ext cx="2560320" cy="54864"/>
          </a:xfrm>
          <a:prstGeom prst="rect">
            <a:avLst/>
          </a:prstGeom>
          <a:solidFill>
            <a:srgbClr val="2C5F2D"/>
          </a:solidFill>
          <a:ln/>
        </p:spPr>
      </p:sp>
      <p:sp>
        <p:nvSpPr>
          <p:cNvPr id="23" name="Text 21"/>
          <p:cNvSpPr/>
          <p:nvPr/>
        </p:nvSpPr>
        <p:spPr>
          <a:xfrm>
            <a:off x="3291840" y="3063240"/>
            <a:ext cx="2560320" cy="457200"/>
          </a:xfrm>
          <a:prstGeom prst="rect">
            <a:avLst/>
          </a:prstGeom>
          <a:noFill/>
          <a:ln/>
        </p:spPr>
        <p:txBody>
          <a:bodyPr wrap="square" rtlCol="0" anchor="ctr"/>
          <a:lstStyle/>
          <a:p>
            <a:pPr algn="ctr" indent="0" marL="0">
              <a:buNone/>
            </a:pPr>
            <a:r>
              <a:rPr lang="en-US" sz="1600" b="1" dirty="0">
                <a:solidFill>
                  <a:srgbClr val="1B3A2D"/>
                </a:solidFill>
                <a:latin typeface="Georgia" pitchFamily="34" charset="0"/>
                <a:ea typeface="Georgia" pitchFamily="34" charset="-122"/>
                <a:cs typeface="Georgia" pitchFamily="34" charset="-120"/>
              </a:rPr>
              <a:t>Matplotlib</a:t>
            </a:r>
            <a:endParaRPr lang="en-US" sz="1600" dirty="0"/>
          </a:p>
        </p:txBody>
      </p:sp>
      <p:sp>
        <p:nvSpPr>
          <p:cNvPr id="24" name="Text 22"/>
          <p:cNvSpPr/>
          <p:nvPr/>
        </p:nvSpPr>
        <p:spPr>
          <a:xfrm>
            <a:off x="3291840" y="3520440"/>
            <a:ext cx="2560320" cy="365760"/>
          </a:xfrm>
          <a:prstGeom prst="rect">
            <a:avLst/>
          </a:prstGeom>
          <a:noFill/>
          <a:ln/>
        </p:spPr>
        <p:txBody>
          <a:bodyPr wrap="square" rtlCol="0" anchor="ctr"/>
          <a:lstStyle/>
          <a:p>
            <a:pPr algn="ctr" indent="0" marL="0">
              <a:buNone/>
            </a:pPr>
            <a:r>
              <a:rPr lang="en-US" sz="1200" dirty="0">
                <a:solidFill>
                  <a:srgbClr val="6B7B6E"/>
                </a:solidFill>
                <a:latin typeface="Calibri" pitchFamily="34" charset="0"/>
                <a:ea typeface="Calibri" pitchFamily="34" charset="-122"/>
                <a:cs typeface="Calibri" pitchFamily="34" charset="-120"/>
              </a:rPr>
              <a:t>Visualization</a:t>
            </a:r>
            <a:endParaRPr lang="en-US" sz="1200" dirty="0"/>
          </a:p>
        </p:txBody>
      </p:sp>
      <p:sp>
        <p:nvSpPr>
          <p:cNvPr id="25" name="Shape 23"/>
          <p:cNvSpPr/>
          <p:nvPr/>
        </p:nvSpPr>
        <p:spPr>
          <a:xfrm>
            <a:off x="6126480" y="2834640"/>
            <a:ext cx="2560320" cy="1371600"/>
          </a:xfrm>
          <a:prstGeom prst="roundRect">
            <a:avLst>
              <a:gd name="adj" fmla="val 6667"/>
            </a:avLst>
          </a:prstGeom>
          <a:solidFill>
            <a:srgbClr val="E8F0E3"/>
          </a:solidFill>
          <a:ln/>
        </p:spPr>
      </p:sp>
      <p:sp>
        <p:nvSpPr>
          <p:cNvPr id="26" name="Shape 24"/>
          <p:cNvSpPr/>
          <p:nvPr/>
        </p:nvSpPr>
        <p:spPr>
          <a:xfrm>
            <a:off x="6126480" y="2834640"/>
            <a:ext cx="2560320" cy="54864"/>
          </a:xfrm>
          <a:prstGeom prst="rect">
            <a:avLst/>
          </a:prstGeom>
          <a:solidFill>
            <a:srgbClr val="2C5F2D"/>
          </a:solidFill>
          <a:ln/>
        </p:spPr>
      </p:sp>
      <p:sp>
        <p:nvSpPr>
          <p:cNvPr id="27" name="Text 25"/>
          <p:cNvSpPr/>
          <p:nvPr/>
        </p:nvSpPr>
        <p:spPr>
          <a:xfrm>
            <a:off x="6126480" y="3063240"/>
            <a:ext cx="2560320" cy="457200"/>
          </a:xfrm>
          <a:prstGeom prst="rect">
            <a:avLst/>
          </a:prstGeom>
          <a:noFill/>
          <a:ln/>
        </p:spPr>
        <p:txBody>
          <a:bodyPr wrap="square" rtlCol="0" anchor="ctr"/>
          <a:lstStyle/>
          <a:p>
            <a:pPr algn="ctr" indent="0" marL="0">
              <a:buNone/>
            </a:pPr>
            <a:r>
              <a:rPr lang="en-US" sz="1600" b="1" dirty="0">
                <a:solidFill>
                  <a:srgbClr val="1B3A2D"/>
                </a:solidFill>
                <a:latin typeface="Georgia" pitchFamily="34" charset="0"/>
                <a:ea typeface="Georgia" pitchFamily="34" charset="-122"/>
                <a:cs typeface="Georgia" pitchFamily="34" charset="-120"/>
              </a:rPr>
              <a:t>Seaborn</a:t>
            </a:r>
            <a:endParaRPr lang="en-US" sz="1600" dirty="0"/>
          </a:p>
        </p:txBody>
      </p:sp>
      <p:sp>
        <p:nvSpPr>
          <p:cNvPr id="28" name="Text 26"/>
          <p:cNvSpPr/>
          <p:nvPr/>
        </p:nvSpPr>
        <p:spPr>
          <a:xfrm>
            <a:off x="6126480" y="3520440"/>
            <a:ext cx="2560320" cy="365760"/>
          </a:xfrm>
          <a:prstGeom prst="rect">
            <a:avLst/>
          </a:prstGeom>
          <a:noFill/>
          <a:ln/>
        </p:spPr>
        <p:txBody>
          <a:bodyPr wrap="square" rtlCol="0" anchor="ctr"/>
          <a:lstStyle/>
          <a:p>
            <a:pPr algn="ctr" indent="0" marL="0">
              <a:buNone/>
            </a:pPr>
            <a:r>
              <a:rPr lang="en-US" sz="1200" dirty="0">
                <a:solidFill>
                  <a:srgbClr val="6B7B6E"/>
                </a:solidFill>
                <a:latin typeface="Calibri" pitchFamily="34" charset="0"/>
                <a:ea typeface="Calibri" pitchFamily="34" charset="-122"/>
                <a:cs typeface="Calibri" pitchFamily="34" charset="-120"/>
              </a:rPr>
              <a:t>Statistical Plots</a:t>
            </a:r>
            <a:endParaRPr lang="en-US" sz="1200" dirty="0"/>
          </a:p>
        </p:txBody>
      </p:sp>
      <p:sp>
        <p:nvSpPr>
          <p:cNvPr id="29" name="Text 27"/>
          <p:cNvSpPr/>
          <p:nvPr/>
        </p:nvSpPr>
        <p:spPr>
          <a:xfrm>
            <a:off x="8046720" y="4754880"/>
            <a:ext cx="914400" cy="274320"/>
          </a:xfrm>
          <a:prstGeom prst="rect">
            <a:avLst/>
          </a:prstGeom>
          <a:noFill/>
          <a:ln/>
        </p:spPr>
        <p:txBody>
          <a:bodyPr wrap="square" rtlCol="0" anchor="ctr"/>
          <a:lstStyle/>
          <a:p>
            <a:pPr algn="r" indent="0" marL="0">
              <a:buNone/>
            </a:pPr>
            <a:r>
              <a:rPr lang="en-US" sz="1000" dirty="0">
                <a:solidFill>
                  <a:srgbClr val="6B7B6E"/>
                </a:solidFill>
              </a:rPr>
              <a:t>4 / 12</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2C5F2D"/>
          </a:solidFill>
          <a:ln/>
        </p:spPr>
      </p:sp>
      <p:sp>
        <p:nvSpPr>
          <p:cNvPr id="3" name="Text 1"/>
          <p:cNvSpPr/>
          <p:nvPr/>
        </p:nvSpPr>
        <p:spPr>
          <a:xfrm>
            <a:off x="457200" y="274320"/>
            <a:ext cx="8229600" cy="640080"/>
          </a:xfrm>
          <a:prstGeom prst="rect">
            <a:avLst/>
          </a:prstGeom>
          <a:noFill/>
          <a:ln/>
        </p:spPr>
        <p:txBody>
          <a:bodyPr wrap="square" rtlCol="0" anchor="ctr"/>
          <a:lstStyle/>
          <a:p>
            <a:pPr indent="0" marL="0">
              <a:buNone/>
            </a:pPr>
            <a:r>
              <a:rPr lang="en-US" sz="3200" b="1" dirty="0">
                <a:solidFill>
                  <a:srgbClr val="1B3A2D"/>
                </a:solidFill>
                <a:latin typeface="Georgia" pitchFamily="34" charset="0"/>
                <a:ea typeface="Georgia" pitchFamily="34" charset="-122"/>
                <a:cs typeface="Georgia" pitchFamily="34" charset="-120"/>
              </a:rPr>
              <a:t>TOOLS IN DETAIL</a:t>
            </a:r>
            <a:endParaRPr lang="en-US" sz="3200" dirty="0"/>
          </a:p>
        </p:txBody>
      </p:sp>
      <p:sp>
        <p:nvSpPr>
          <p:cNvPr id="4" name="Shape 2"/>
          <p:cNvSpPr/>
          <p:nvPr/>
        </p:nvSpPr>
        <p:spPr>
          <a:xfrm>
            <a:off x="457200" y="914400"/>
            <a:ext cx="1828800" cy="0"/>
          </a:xfrm>
          <a:prstGeom prst="line">
            <a:avLst/>
          </a:prstGeom>
          <a:noFill/>
          <a:ln w="38100">
            <a:solidFill>
              <a:srgbClr val="97BC62"/>
            </a:solidFill>
            <a:prstDash val="solid"/>
          </a:ln>
        </p:spPr>
      </p:sp>
      <p:sp>
        <p:nvSpPr>
          <p:cNvPr id="5" name="Shape 3"/>
          <p:cNvSpPr/>
          <p:nvPr/>
        </p:nvSpPr>
        <p:spPr>
          <a:xfrm>
            <a:off x="457200" y="1188720"/>
            <a:ext cx="3931920" cy="3474720"/>
          </a:xfrm>
          <a:prstGeom prst="rect">
            <a:avLst/>
          </a:prstGeom>
          <a:solidFill>
            <a:srgbClr val="E8F0E3"/>
          </a:solidFill>
          <a:ln/>
        </p:spPr>
      </p:sp>
      <p:sp>
        <p:nvSpPr>
          <p:cNvPr id="6" name="Shape 4"/>
          <p:cNvSpPr/>
          <p:nvPr/>
        </p:nvSpPr>
        <p:spPr>
          <a:xfrm>
            <a:off x="457200" y="1188720"/>
            <a:ext cx="3931920" cy="54864"/>
          </a:xfrm>
          <a:prstGeom prst="rect">
            <a:avLst/>
          </a:prstGeom>
          <a:solidFill>
            <a:srgbClr val="2C5F2D"/>
          </a:solidFill>
          <a:ln/>
        </p:spPr>
      </p:sp>
      <p:sp>
        <p:nvSpPr>
          <p:cNvPr id="7" name="Text 5"/>
          <p:cNvSpPr/>
          <p:nvPr/>
        </p:nvSpPr>
        <p:spPr>
          <a:xfrm>
            <a:off x="640080" y="1371600"/>
            <a:ext cx="3657600" cy="365760"/>
          </a:xfrm>
          <a:prstGeom prst="rect">
            <a:avLst/>
          </a:prstGeom>
          <a:noFill/>
          <a:ln/>
        </p:spPr>
        <p:txBody>
          <a:bodyPr wrap="square" rtlCol="0" anchor="ctr"/>
          <a:lstStyle/>
          <a:p>
            <a:pPr indent="0" marL="0">
              <a:buNone/>
            </a:pPr>
            <a:r>
              <a:rPr lang="en-US" sz="1800" b="1" dirty="0">
                <a:solidFill>
                  <a:srgbClr val="1B3A2D"/>
                </a:solidFill>
                <a:latin typeface="Georgia" pitchFamily="34" charset="0"/>
                <a:ea typeface="Georgia" pitchFamily="34" charset="-122"/>
                <a:cs typeface="Georgia" pitchFamily="34" charset="-120"/>
              </a:rPr>
              <a:t>Python 3.x</a:t>
            </a:r>
            <a:endParaRPr lang="en-US" sz="1800" dirty="0"/>
          </a:p>
        </p:txBody>
      </p:sp>
      <p:sp>
        <p:nvSpPr>
          <p:cNvPr id="8" name="Text 6"/>
          <p:cNvSpPr/>
          <p:nvPr/>
        </p:nvSpPr>
        <p:spPr>
          <a:xfrm>
            <a:off x="640080" y="1828800"/>
            <a:ext cx="3566160" cy="1097280"/>
          </a:xfrm>
          <a:prstGeom prst="rect">
            <a:avLst/>
          </a:prstGeom>
          <a:noFill/>
          <a:ln/>
        </p:spPr>
        <p:txBody>
          <a:bodyPr wrap="square" rtlCol="0" anchor="t"/>
          <a:lstStyle/>
          <a:p>
            <a:pPr indent="0" marL="0">
              <a:lnSpc>
                <a:spcPct val="130000"/>
              </a:lnSpc>
              <a:buNone/>
            </a:pPr>
            <a:r>
              <a:rPr lang="en-US" sz="1200" dirty="0">
                <a:solidFill>
                  <a:srgbClr val="2D2D2D"/>
                </a:solidFill>
                <a:latin typeface="Calibri" pitchFamily="34" charset="0"/>
                <a:ea typeface="Calibri" pitchFamily="34" charset="-122"/>
                <a:cs typeface="Calibri" pitchFamily="34" charset="-120"/>
              </a:rPr>
              <a:t>Python is the primary programming language for this project due to its extensive ecosystem of scientific computing and ML libraries. It provides clean syntax, dynamic typing, and an active community for data science applications.</a:t>
            </a:r>
            <a:endParaRPr lang="en-US" sz="1200" dirty="0"/>
          </a:p>
        </p:txBody>
      </p:sp>
      <p:sp>
        <p:nvSpPr>
          <p:cNvPr id="9" name="Text 7"/>
          <p:cNvSpPr/>
          <p:nvPr/>
        </p:nvSpPr>
        <p:spPr>
          <a:xfrm>
            <a:off x="640080" y="3017520"/>
            <a:ext cx="3566160" cy="1371600"/>
          </a:xfrm>
          <a:prstGeom prst="rect">
            <a:avLst/>
          </a:prstGeom>
          <a:noFill/>
          <a:ln/>
        </p:spPr>
        <p:txBody>
          <a:bodyPr wrap="square" rtlCol="0" anchor="ctr"/>
          <a:lstStyle/>
          <a:p>
            <a:pPr indent="0" marL="0">
              <a:lnSpc>
                <a:spcPct val="130000"/>
              </a:lnSpc>
              <a:buNone/>
            </a:pPr>
            <a:r>
              <a:rPr lang="en-US" sz="1100" b="1" dirty="0">
                <a:solidFill>
                  <a:srgbClr val="2D2D2D"/>
                </a:solidFill>
                <a:latin typeface="Calibri" pitchFamily="34" charset="0"/>
                <a:ea typeface="Calibri" pitchFamily="34" charset="-122"/>
                <a:cs typeface="Calibri" pitchFamily="34" charset="-120"/>
              </a:rPr>
              <a:t>Key Features:</a:t>
            </a:r>
            <a:endParaRPr lang="en-US" sz="1100" dirty="0"/>
          </a:p>
          <a:p>
            <a:pPr marL="342900" indent="-342900">
              <a:lnSpc>
                <a:spcPct val="130000"/>
              </a:lnSpc>
              <a:buSzPct val="100000"/>
              <a:buChar char="•"/>
            </a:pPr>
            <a:r>
              <a:rPr lang="en-US" sz="1100" dirty="0">
                <a:solidFill>
                  <a:srgbClr val="2D2D2D"/>
                </a:solidFill>
                <a:latin typeface="Calibri" pitchFamily="34" charset="0"/>
                <a:ea typeface="Calibri" pitchFamily="34" charset="-122"/>
                <a:cs typeface="Calibri" pitchFamily="34" charset="-120"/>
              </a:rPr>
              <a:t>Interpreted &amp; interactive</a:t>
            </a:r>
            <a:endParaRPr lang="en-US" sz="1100" dirty="0"/>
          </a:p>
          <a:p>
            <a:pPr marL="342900" indent="-342900">
              <a:lnSpc>
                <a:spcPct val="130000"/>
              </a:lnSpc>
              <a:buSzPct val="100000"/>
              <a:buChar char="•"/>
            </a:pPr>
            <a:r>
              <a:rPr lang="en-US" sz="1100" dirty="0">
                <a:solidFill>
                  <a:srgbClr val="2D2D2D"/>
                </a:solidFill>
                <a:latin typeface="Calibri" pitchFamily="34" charset="0"/>
                <a:ea typeface="Calibri" pitchFamily="34" charset="-122"/>
                <a:cs typeface="Calibri" pitchFamily="34" charset="-120"/>
              </a:rPr>
              <a:t>Rich ML/AI library ecosystem</a:t>
            </a:r>
            <a:endParaRPr lang="en-US" sz="1100" dirty="0"/>
          </a:p>
          <a:p>
            <a:pPr marL="342900" indent="-342900">
              <a:lnSpc>
                <a:spcPct val="130000"/>
              </a:lnSpc>
              <a:buSzPct val="100000"/>
              <a:buChar char="•"/>
            </a:pPr>
            <a:r>
              <a:rPr lang="en-US" sz="1100" dirty="0">
                <a:solidFill>
                  <a:srgbClr val="2D2D2D"/>
                </a:solidFill>
                <a:latin typeface="Calibri" pitchFamily="34" charset="0"/>
                <a:ea typeface="Calibri" pitchFamily="34" charset="-122"/>
                <a:cs typeface="Calibri" pitchFamily="34" charset="-120"/>
              </a:rPr>
              <a:t>Cross-platform compatibility</a:t>
            </a:r>
            <a:endParaRPr lang="en-US" sz="1100" dirty="0"/>
          </a:p>
        </p:txBody>
      </p:sp>
      <p:sp>
        <p:nvSpPr>
          <p:cNvPr id="10" name="Shape 8"/>
          <p:cNvSpPr/>
          <p:nvPr/>
        </p:nvSpPr>
        <p:spPr>
          <a:xfrm>
            <a:off x="4754880" y="1188720"/>
            <a:ext cx="3931920" cy="3474720"/>
          </a:xfrm>
          <a:prstGeom prst="rect">
            <a:avLst/>
          </a:prstGeom>
          <a:solidFill>
            <a:srgbClr val="E8F0E3"/>
          </a:solidFill>
          <a:ln/>
        </p:spPr>
      </p:sp>
      <p:sp>
        <p:nvSpPr>
          <p:cNvPr id="11" name="Shape 9"/>
          <p:cNvSpPr/>
          <p:nvPr/>
        </p:nvSpPr>
        <p:spPr>
          <a:xfrm>
            <a:off x="4754880" y="1188720"/>
            <a:ext cx="3931920" cy="54864"/>
          </a:xfrm>
          <a:prstGeom prst="rect">
            <a:avLst/>
          </a:prstGeom>
          <a:solidFill>
            <a:srgbClr val="2C5F2D"/>
          </a:solidFill>
          <a:ln/>
        </p:spPr>
      </p:sp>
      <p:sp>
        <p:nvSpPr>
          <p:cNvPr id="12" name="Text 10"/>
          <p:cNvSpPr/>
          <p:nvPr/>
        </p:nvSpPr>
        <p:spPr>
          <a:xfrm>
            <a:off x="4937760" y="1371600"/>
            <a:ext cx="3657600" cy="365760"/>
          </a:xfrm>
          <a:prstGeom prst="rect">
            <a:avLst/>
          </a:prstGeom>
          <a:noFill/>
          <a:ln/>
        </p:spPr>
        <p:txBody>
          <a:bodyPr wrap="square" rtlCol="0" anchor="ctr"/>
          <a:lstStyle/>
          <a:p>
            <a:pPr indent="0" marL="0">
              <a:buNone/>
            </a:pPr>
            <a:r>
              <a:rPr lang="en-US" sz="1800" b="1" dirty="0">
                <a:solidFill>
                  <a:srgbClr val="1B3A2D"/>
                </a:solidFill>
                <a:latin typeface="Georgia" pitchFamily="34" charset="0"/>
                <a:ea typeface="Georgia" pitchFamily="34" charset="-122"/>
                <a:cs typeface="Georgia" pitchFamily="34" charset="-120"/>
              </a:rPr>
              <a:t>Pandas</a:t>
            </a:r>
            <a:endParaRPr lang="en-US" sz="1800" dirty="0"/>
          </a:p>
        </p:txBody>
      </p:sp>
      <p:sp>
        <p:nvSpPr>
          <p:cNvPr id="13" name="Text 11"/>
          <p:cNvSpPr/>
          <p:nvPr/>
        </p:nvSpPr>
        <p:spPr>
          <a:xfrm>
            <a:off x="4937760" y="1828800"/>
            <a:ext cx="3566160" cy="1097280"/>
          </a:xfrm>
          <a:prstGeom prst="rect">
            <a:avLst/>
          </a:prstGeom>
          <a:noFill/>
          <a:ln/>
        </p:spPr>
        <p:txBody>
          <a:bodyPr wrap="square" rtlCol="0" anchor="t"/>
          <a:lstStyle/>
          <a:p>
            <a:pPr indent="0" marL="0">
              <a:lnSpc>
                <a:spcPct val="130000"/>
              </a:lnSpc>
              <a:buNone/>
            </a:pPr>
            <a:r>
              <a:rPr lang="en-US" sz="1200" dirty="0">
                <a:solidFill>
                  <a:srgbClr val="2D2D2D"/>
                </a:solidFill>
                <a:latin typeface="Calibri" pitchFamily="34" charset="0"/>
                <a:ea typeface="Calibri" pitchFamily="34" charset="-122"/>
                <a:cs typeface="Calibri" pitchFamily="34" charset="-120"/>
              </a:rPr>
              <a:t>Pandas provides high-performance data structures (DataFrames and Series) for data manipulation and analysis. It handles data loading, cleaning, encoding categorical variables, and feature engineering.</a:t>
            </a:r>
            <a:endParaRPr lang="en-US" sz="1200" dirty="0"/>
          </a:p>
        </p:txBody>
      </p:sp>
      <p:sp>
        <p:nvSpPr>
          <p:cNvPr id="14" name="Text 12"/>
          <p:cNvSpPr/>
          <p:nvPr/>
        </p:nvSpPr>
        <p:spPr>
          <a:xfrm>
            <a:off x="4937760" y="3017520"/>
            <a:ext cx="3566160" cy="1371600"/>
          </a:xfrm>
          <a:prstGeom prst="rect">
            <a:avLst/>
          </a:prstGeom>
          <a:noFill/>
          <a:ln/>
        </p:spPr>
        <p:txBody>
          <a:bodyPr wrap="square" rtlCol="0" anchor="ctr"/>
          <a:lstStyle/>
          <a:p>
            <a:pPr indent="0" marL="0">
              <a:lnSpc>
                <a:spcPct val="130000"/>
              </a:lnSpc>
              <a:buNone/>
            </a:pPr>
            <a:r>
              <a:rPr lang="en-US" sz="1100" b="1" dirty="0">
                <a:solidFill>
                  <a:srgbClr val="2D2D2D"/>
                </a:solidFill>
                <a:latin typeface="Calibri" pitchFamily="34" charset="0"/>
                <a:ea typeface="Calibri" pitchFamily="34" charset="-122"/>
                <a:cs typeface="Calibri" pitchFamily="34" charset="-120"/>
              </a:rPr>
              <a:t>Used For:</a:t>
            </a:r>
            <a:endParaRPr lang="en-US" sz="1100" dirty="0"/>
          </a:p>
          <a:p>
            <a:pPr marL="342900" indent="-342900">
              <a:lnSpc>
                <a:spcPct val="130000"/>
              </a:lnSpc>
              <a:buSzPct val="100000"/>
              <a:buChar char="•"/>
            </a:pPr>
            <a:r>
              <a:rPr lang="en-US" sz="1100" dirty="0">
                <a:solidFill>
                  <a:srgbClr val="2D2D2D"/>
                </a:solidFill>
                <a:latin typeface="Calibri" pitchFamily="34" charset="0"/>
                <a:ea typeface="Calibri" pitchFamily="34" charset="-122"/>
                <a:cs typeface="Calibri" pitchFamily="34" charset="-120"/>
              </a:rPr>
              <a:t>CSV data ingestion</a:t>
            </a:r>
            <a:endParaRPr lang="en-US" sz="1100" dirty="0"/>
          </a:p>
          <a:p>
            <a:pPr marL="342900" indent="-342900">
              <a:lnSpc>
                <a:spcPct val="130000"/>
              </a:lnSpc>
              <a:buSzPct val="100000"/>
              <a:buChar char="•"/>
            </a:pPr>
            <a:r>
              <a:rPr lang="en-US" sz="1100" dirty="0">
                <a:solidFill>
                  <a:srgbClr val="2D2D2D"/>
                </a:solidFill>
                <a:latin typeface="Calibri" pitchFamily="34" charset="0"/>
                <a:ea typeface="Calibri" pitchFamily="34" charset="-122"/>
                <a:cs typeface="Calibri" pitchFamily="34" charset="-120"/>
              </a:rPr>
              <a:t>Missing value handling</a:t>
            </a:r>
            <a:endParaRPr lang="en-US" sz="1100" dirty="0"/>
          </a:p>
          <a:p>
            <a:pPr marL="342900" indent="-342900">
              <a:lnSpc>
                <a:spcPct val="130000"/>
              </a:lnSpc>
              <a:buSzPct val="100000"/>
              <a:buChar char="•"/>
            </a:pPr>
            <a:r>
              <a:rPr lang="en-US" sz="1100" dirty="0">
                <a:solidFill>
                  <a:srgbClr val="2D2D2D"/>
                </a:solidFill>
                <a:latin typeface="Calibri" pitchFamily="34" charset="0"/>
                <a:ea typeface="Calibri" pitchFamily="34" charset="-122"/>
                <a:cs typeface="Calibri" pitchFamily="34" charset="-120"/>
              </a:rPr>
              <a:t>Feature selection &amp; encoding</a:t>
            </a:r>
            <a:endParaRPr lang="en-US" sz="1100" dirty="0"/>
          </a:p>
        </p:txBody>
      </p:sp>
      <p:sp>
        <p:nvSpPr>
          <p:cNvPr id="15" name="Text 13"/>
          <p:cNvSpPr/>
          <p:nvPr/>
        </p:nvSpPr>
        <p:spPr>
          <a:xfrm>
            <a:off x="8046720" y="4754880"/>
            <a:ext cx="914400" cy="274320"/>
          </a:xfrm>
          <a:prstGeom prst="rect">
            <a:avLst/>
          </a:prstGeom>
          <a:noFill/>
          <a:ln/>
        </p:spPr>
        <p:txBody>
          <a:bodyPr wrap="square" rtlCol="0" anchor="ctr"/>
          <a:lstStyle/>
          <a:p>
            <a:pPr algn="r" indent="0" marL="0">
              <a:buNone/>
            </a:pPr>
            <a:r>
              <a:rPr lang="en-US" sz="1000" dirty="0">
                <a:solidFill>
                  <a:srgbClr val="6B7B6E"/>
                </a:solidFill>
              </a:rPr>
              <a:t>5 / 12</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2C5F2D"/>
          </a:solidFill>
          <a:ln/>
        </p:spPr>
      </p:sp>
      <p:sp>
        <p:nvSpPr>
          <p:cNvPr id="3" name="Text 1"/>
          <p:cNvSpPr/>
          <p:nvPr/>
        </p:nvSpPr>
        <p:spPr>
          <a:xfrm>
            <a:off x="457200" y="274320"/>
            <a:ext cx="8229600" cy="640080"/>
          </a:xfrm>
          <a:prstGeom prst="rect">
            <a:avLst/>
          </a:prstGeom>
          <a:noFill/>
          <a:ln/>
        </p:spPr>
        <p:txBody>
          <a:bodyPr wrap="square" rtlCol="0" anchor="ctr"/>
          <a:lstStyle/>
          <a:p>
            <a:pPr indent="0" marL="0">
              <a:buNone/>
            </a:pPr>
            <a:r>
              <a:rPr lang="en-US" sz="3200" b="1" dirty="0">
                <a:solidFill>
                  <a:srgbClr val="1B3A2D"/>
                </a:solidFill>
                <a:latin typeface="Georgia" pitchFamily="34" charset="0"/>
                <a:ea typeface="Georgia" pitchFamily="34" charset="-122"/>
                <a:cs typeface="Georgia" pitchFamily="34" charset="-120"/>
              </a:rPr>
              <a:t>TOOLS IN DETAIL</a:t>
            </a:r>
            <a:endParaRPr lang="en-US" sz="3200" dirty="0"/>
          </a:p>
        </p:txBody>
      </p:sp>
      <p:sp>
        <p:nvSpPr>
          <p:cNvPr id="4" name="Shape 2"/>
          <p:cNvSpPr/>
          <p:nvPr/>
        </p:nvSpPr>
        <p:spPr>
          <a:xfrm>
            <a:off x="457200" y="914400"/>
            <a:ext cx="1828800" cy="0"/>
          </a:xfrm>
          <a:prstGeom prst="line">
            <a:avLst/>
          </a:prstGeom>
          <a:noFill/>
          <a:ln w="38100">
            <a:solidFill>
              <a:srgbClr val="97BC62"/>
            </a:solidFill>
            <a:prstDash val="solid"/>
          </a:ln>
        </p:spPr>
      </p:sp>
      <p:sp>
        <p:nvSpPr>
          <p:cNvPr id="5" name="Shape 3"/>
          <p:cNvSpPr/>
          <p:nvPr/>
        </p:nvSpPr>
        <p:spPr>
          <a:xfrm>
            <a:off x="457200" y="1188720"/>
            <a:ext cx="3931920" cy="3474720"/>
          </a:xfrm>
          <a:prstGeom prst="rect">
            <a:avLst/>
          </a:prstGeom>
          <a:solidFill>
            <a:srgbClr val="E8F0E3"/>
          </a:solidFill>
          <a:ln/>
        </p:spPr>
      </p:sp>
      <p:sp>
        <p:nvSpPr>
          <p:cNvPr id="6" name="Shape 4"/>
          <p:cNvSpPr/>
          <p:nvPr/>
        </p:nvSpPr>
        <p:spPr>
          <a:xfrm>
            <a:off x="457200" y="1188720"/>
            <a:ext cx="3931920" cy="54864"/>
          </a:xfrm>
          <a:prstGeom prst="rect">
            <a:avLst/>
          </a:prstGeom>
          <a:solidFill>
            <a:srgbClr val="2C5F2D"/>
          </a:solidFill>
          <a:ln/>
        </p:spPr>
      </p:sp>
      <p:sp>
        <p:nvSpPr>
          <p:cNvPr id="7" name="Text 5"/>
          <p:cNvSpPr/>
          <p:nvPr/>
        </p:nvSpPr>
        <p:spPr>
          <a:xfrm>
            <a:off x="640080" y="1371600"/>
            <a:ext cx="3657600" cy="365760"/>
          </a:xfrm>
          <a:prstGeom prst="rect">
            <a:avLst/>
          </a:prstGeom>
          <a:noFill/>
          <a:ln/>
        </p:spPr>
        <p:txBody>
          <a:bodyPr wrap="square" rtlCol="0" anchor="ctr"/>
          <a:lstStyle/>
          <a:p>
            <a:pPr indent="0" marL="0">
              <a:buNone/>
            </a:pPr>
            <a:r>
              <a:rPr lang="en-US" sz="1800" b="1" dirty="0">
                <a:solidFill>
                  <a:srgbClr val="1B3A2D"/>
                </a:solidFill>
                <a:latin typeface="Georgia" pitchFamily="34" charset="0"/>
                <a:ea typeface="Georgia" pitchFamily="34" charset="-122"/>
                <a:cs typeface="Georgia" pitchFamily="34" charset="-120"/>
              </a:rPr>
              <a:t>Scikit-learn</a:t>
            </a:r>
            <a:endParaRPr lang="en-US" sz="1800" dirty="0"/>
          </a:p>
        </p:txBody>
      </p:sp>
      <p:sp>
        <p:nvSpPr>
          <p:cNvPr id="8" name="Text 6"/>
          <p:cNvSpPr/>
          <p:nvPr/>
        </p:nvSpPr>
        <p:spPr>
          <a:xfrm>
            <a:off x="640080" y="1828800"/>
            <a:ext cx="3566160" cy="914400"/>
          </a:xfrm>
          <a:prstGeom prst="rect">
            <a:avLst/>
          </a:prstGeom>
          <a:noFill/>
          <a:ln/>
        </p:spPr>
        <p:txBody>
          <a:bodyPr wrap="square" rtlCol="0" anchor="t"/>
          <a:lstStyle/>
          <a:p>
            <a:pPr indent="0" marL="0">
              <a:lnSpc>
                <a:spcPct val="130000"/>
              </a:lnSpc>
              <a:buNone/>
            </a:pPr>
            <a:r>
              <a:rPr lang="en-US" sz="1200" dirty="0">
                <a:solidFill>
                  <a:srgbClr val="2D2D2D"/>
                </a:solidFill>
                <a:latin typeface="Calibri" pitchFamily="34" charset="0"/>
                <a:ea typeface="Calibri" pitchFamily="34" charset="-122"/>
                <a:cs typeface="Calibri" pitchFamily="34" charset="-120"/>
              </a:rPr>
              <a:t>Scikit-learn is the core ML library providing implementations of regression algorithms, preprocessing tools, model selection, and evaluation metrics used throughout this project.</a:t>
            </a:r>
            <a:endParaRPr lang="en-US" sz="1200" dirty="0"/>
          </a:p>
        </p:txBody>
      </p:sp>
      <p:sp>
        <p:nvSpPr>
          <p:cNvPr id="9" name="Text 7"/>
          <p:cNvSpPr/>
          <p:nvPr/>
        </p:nvSpPr>
        <p:spPr>
          <a:xfrm>
            <a:off x="640080" y="2834640"/>
            <a:ext cx="3566160" cy="1645920"/>
          </a:xfrm>
          <a:prstGeom prst="rect">
            <a:avLst/>
          </a:prstGeom>
          <a:noFill/>
          <a:ln/>
        </p:spPr>
        <p:txBody>
          <a:bodyPr wrap="square" rtlCol="0" anchor="ctr"/>
          <a:lstStyle/>
          <a:p>
            <a:pPr indent="0" marL="0">
              <a:lnSpc>
                <a:spcPct val="130000"/>
              </a:lnSpc>
              <a:buNone/>
            </a:pPr>
            <a:r>
              <a:rPr lang="en-US" sz="1100" b="1" dirty="0">
                <a:solidFill>
                  <a:srgbClr val="2D2D2D"/>
                </a:solidFill>
                <a:latin typeface="Calibri" pitchFamily="34" charset="0"/>
                <a:ea typeface="Calibri" pitchFamily="34" charset="-122"/>
                <a:cs typeface="Calibri" pitchFamily="34" charset="-120"/>
              </a:rPr>
              <a:t>Models Used:</a:t>
            </a:r>
            <a:endParaRPr lang="en-US" sz="1100" dirty="0"/>
          </a:p>
          <a:p>
            <a:pPr marL="342900" indent="-342900">
              <a:lnSpc>
                <a:spcPct val="130000"/>
              </a:lnSpc>
              <a:buSzPct val="100000"/>
              <a:buChar char="•"/>
            </a:pPr>
            <a:r>
              <a:rPr lang="en-US" sz="1100" dirty="0">
                <a:solidFill>
                  <a:srgbClr val="2D2D2D"/>
                </a:solidFill>
                <a:latin typeface="Calibri" pitchFamily="34" charset="0"/>
                <a:ea typeface="Calibri" pitchFamily="34" charset="-122"/>
                <a:cs typeface="Calibri" pitchFamily="34" charset="-120"/>
              </a:rPr>
              <a:t>Linear Regression</a:t>
            </a:r>
            <a:endParaRPr lang="en-US" sz="1100" dirty="0"/>
          </a:p>
          <a:p>
            <a:pPr marL="342900" indent="-342900">
              <a:lnSpc>
                <a:spcPct val="130000"/>
              </a:lnSpc>
              <a:buSzPct val="100000"/>
              <a:buChar char="•"/>
            </a:pPr>
            <a:r>
              <a:rPr lang="en-US" sz="1100" dirty="0">
                <a:solidFill>
                  <a:srgbClr val="2D2D2D"/>
                </a:solidFill>
                <a:latin typeface="Calibri" pitchFamily="34" charset="0"/>
                <a:ea typeface="Calibri" pitchFamily="34" charset="-122"/>
                <a:cs typeface="Calibri" pitchFamily="34" charset="-120"/>
              </a:rPr>
              <a:t>Random Forest Regressor</a:t>
            </a:r>
            <a:endParaRPr lang="en-US" sz="1100" dirty="0"/>
          </a:p>
          <a:p>
            <a:pPr marL="342900" indent="-342900">
              <a:lnSpc>
                <a:spcPct val="130000"/>
              </a:lnSpc>
              <a:buSzPct val="100000"/>
              <a:buChar char="•"/>
            </a:pPr>
            <a:r>
              <a:rPr lang="en-US" sz="1100" dirty="0">
                <a:solidFill>
                  <a:srgbClr val="2D2D2D"/>
                </a:solidFill>
                <a:latin typeface="Calibri" pitchFamily="34" charset="0"/>
                <a:ea typeface="Calibri" pitchFamily="34" charset="-122"/>
                <a:cs typeface="Calibri" pitchFamily="34" charset="-120"/>
              </a:rPr>
              <a:t>Gradient Boosting Regressor</a:t>
            </a:r>
            <a:endParaRPr lang="en-US" sz="1100" dirty="0"/>
          </a:p>
          <a:p>
            <a:pPr marL="342900" indent="-342900">
              <a:lnSpc>
                <a:spcPct val="130000"/>
              </a:lnSpc>
              <a:buSzPct val="100000"/>
              <a:buChar char="•"/>
            </a:pPr>
            <a:r>
              <a:rPr lang="en-US" sz="1100" dirty="0">
                <a:solidFill>
                  <a:srgbClr val="2D2D2D"/>
                </a:solidFill>
                <a:latin typeface="Calibri" pitchFamily="34" charset="0"/>
                <a:ea typeface="Calibri" pitchFamily="34" charset="-122"/>
                <a:cs typeface="Calibri" pitchFamily="34" charset="-120"/>
              </a:rPr>
              <a:t>Support Vector Regression (SVR)</a:t>
            </a:r>
            <a:endParaRPr lang="en-US" sz="1100" dirty="0"/>
          </a:p>
        </p:txBody>
      </p:sp>
      <p:sp>
        <p:nvSpPr>
          <p:cNvPr id="10" name="Shape 8"/>
          <p:cNvSpPr/>
          <p:nvPr/>
        </p:nvSpPr>
        <p:spPr>
          <a:xfrm>
            <a:off x="4754880" y="1188720"/>
            <a:ext cx="3931920" cy="3474720"/>
          </a:xfrm>
          <a:prstGeom prst="rect">
            <a:avLst/>
          </a:prstGeom>
          <a:solidFill>
            <a:srgbClr val="E8F0E3"/>
          </a:solidFill>
          <a:ln/>
        </p:spPr>
      </p:sp>
      <p:sp>
        <p:nvSpPr>
          <p:cNvPr id="11" name="Shape 9"/>
          <p:cNvSpPr/>
          <p:nvPr/>
        </p:nvSpPr>
        <p:spPr>
          <a:xfrm>
            <a:off x="4754880" y="1188720"/>
            <a:ext cx="3931920" cy="54864"/>
          </a:xfrm>
          <a:prstGeom prst="rect">
            <a:avLst/>
          </a:prstGeom>
          <a:solidFill>
            <a:srgbClr val="2C5F2D"/>
          </a:solidFill>
          <a:ln/>
        </p:spPr>
      </p:sp>
      <p:sp>
        <p:nvSpPr>
          <p:cNvPr id="12" name="Text 10"/>
          <p:cNvSpPr/>
          <p:nvPr/>
        </p:nvSpPr>
        <p:spPr>
          <a:xfrm>
            <a:off x="4937760" y="1371600"/>
            <a:ext cx="3657600" cy="365760"/>
          </a:xfrm>
          <a:prstGeom prst="rect">
            <a:avLst/>
          </a:prstGeom>
          <a:noFill/>
          <a:ln/>
        </p:spPr>
        <p:txBody>
          <a:bodyPr wrap="square" rtlCol="0" anchor="ctr"/>
          <a:lstStyle/>
          <a:p>
            <a:pPr indent="0" marL="0">
              <a:buNone/>
            </a:pPr>
            <a:r>
              <a:rPr lang="en-US" sz="1800" b="1" dirty="0">
                <a:solidFill>
                  <a:srgbClr val="1B3A2D"/>
                </a:solidFill>
                <a:latin typeface="Georgia" pitchFamily="34" charset="0"/>
                <a:ea typeface="Georgia" pitchFamily="34" charset="-122"/>
                <a:cs typeface="Georgia" pitchFamily="34" charset="-120"/>
              </a:rPr>
              <a:t>Matplotlib &amp; Seaborn</a:t>
            </a:r>
            <a:endParaRPr lang="en-US" sz="1800" dirty="0"/>
          </a:p>
        </p:txBody>
      </p:sp>
      <p:sp>
        <p:nvSpPr>
          <p:cNvPr id="13" name="Text 11"/>
          <p:cNvSpPr/>
          <p:nvPr/>
        </p:nvSpPr>
        <p:spPr>
          <a:xfrm>
            <a:off x="4937760" y="1828800"/>
            <a:ext cx="3566160" cy="1097280"/>
          </a:xfrm>
          <a:prstGeom prst="rect">
            <a:avLst/>
          </a:prstGeom>
          <a:noFill/>
          <a:ln/>
        </p:spPr>
        <p:txBody>
          <a:bodyPr wrap="square" rtlCol="0" anchor="t"/>
          <a:lstStyle/>
          <a:p>
            <a:pPr indent="0" marL="0">
              <a:lnSpc>
                <a:spcPct val="130000"/>
              </a:lnSpc>
              <a:buNone/>
            </a:pPr>
            <a:r>
              <a:rPr lang="en-US" sz="1200" dirty="0">
                <a:solidFill>
                  <a:srgbClr val="2D2D2D"/>
                </a:solidFill>
                <a:latin typeface="Calibri" pitchFamily="34" charset="0"/>
                <a:ea typeface="Calibri" pitchFamily="34" charset="-122"/>
                <a:cs typeface="Calibri" pitchFamily="34" charset="-120"/>
              </a:rPr>
              <a:t>Matplotlib provides foundational plotting capabilities while Seaborn adds statistical visualization with elegant default styles. Together they generate comparison charts, scatter plots, and feature importance visualizations.</a:t>
            </a:r>
            <a:endParaRPr lang="en-US" sz="1200" dirty="0"/>
          </a:p>
        </p:txBody>
      </p:sp>
      <p:sp>
        <p:nvSpPr>
          <p:cNvPr id="14" name="Text 12"/>
          <p:cNvSpPr/>
          <p:nvPr/>
        </p:nvSpPr>
        <p:spPr>
          <a:xfrm>
            <a:off x="4937760" y="3017520"/>
            <a:ext cx="3566160" cy="1645920"/>
          </a:xfrm>
          <a:prstGeom prst="rect">
            <a:avLst/>
          </a:prstGeom>
          <a:noFill/>
          <a:ln/>
        </p:spPr>
        <p:txBody>
          <a:bodyPr wrap="square" rtlCol="0" anchor="ctr"/>
          <a:lstStyle/>
          <a:p>
            <a:pPr indent="0" marL="0">
              <a:lnSpc>
                <a:spcPct val="130000"/>
              </a:lnSpc>
              <a:buNone/>
            </a:pPr>
            <a:r>
              <a:rPr lang="en-US" sz="1100" b="1" dirty="0">
                <a:solidFill>
                  <a:srgbClr val="2D2D2D"/>
                </a:solidFill>
                <a:latin typeface="Calibri" pitchFamily="34" charset="0"/>
                <a:ea typeface="Calibri" pitchFamily="34" charset="-122"/>
                <a:cs typeface="Calibri" pitchFamily="34" charset="-120"/>
              </a:rPr>
              <a:t>Visualizations:</a:t>
            </a:r>
            <a:endParaRPr lang="en-US" sz="1100" dirty="0"/>
          </a:p>
          <a:p>
            <a:pPr marL="342900" indent="-342900">
              <a:lnSpc>
                <a:spcPct val="130000"/>
              </a:lnSpc>
              <a:buSzPct val="100000"/>
              <a:buChar char="•"/>
            </a:pPr>
            <a:r>
              <a:rPr lang="en-US" sz="1100" dirty="0">
                <a:solidFill>
                  <a:srgbClr val="2D2D2D"/>
                </a:solidFill>
                <a:latin typeface="Calibri" pitchFamily="34" charset="0"/>
                <a:ea typeface="Calibri" pitchFamily="34" charset="-122"/>
                <a:cs typeface="Calibri" pitchFamily="34" charset="-120"/>
              </a:rPr>
              <a:t>R² score comparison bars</a:t>
            </a:r>
            <a:endParaRPr lang="en-US" sz="1100" dirty="0"/>
          </a:p>
          <a:p>
            <a:pPr marL="342900" indent="-342900">
              <a:lnSpc>
                <a:spcPct val="130000"/>
              </a:lnSpc>
              <a:buSzPct val="100000"/>
              <a:buChar char="•"/>
            </a:pPr>
            <a:r>
              <a:rPr lang="en-US" sz="1100" dirty="0">
                <a:solidFill>
                  <a:srgbClr val="2D2D2D"/>
                </a:solidFill>
                <a:latin typeface="Calibri" pitchFamily="34" charset="0"/>
                <a:ea typeface="Calibri" pitchFamily="34" charset="-122"/>
                <a:cs typeface="Calibri" pitchFamily="34" charset="-120"/>
              </a:rPr>
              <a:t>Actual vs Predicted scatter</a:t>
            </a:r>
            <a:endParaRPr lang="en-US" sz="1100" dirty="0"/>
          </a:p>
          <a:p>
            <a:pPr marL="342900" indent="-342900">
              <a:lnSpc>
                <a:spcPct val="130000"/>
              </a:lnSpc>
              <a:buSzPct val="100000"/>
              <a:buChar char="•"/>
            </a:pPr>
            <a:r>
              <a:rPr lang="en-US" sz="1100" dirty="0">
                <a:solidFill>
                  <a:srgbClr val="2D2D2D"/>
                </a:solidFill>
                <a:latin typeface="Calibri" pitchFamily="34" charset="0"/>
                <a:ea typeface="Calibri" pitchFamily="34" charset="-122"/>
                <a:cs typeface="Calibri" pitchFamily="34" charset="-120"/>
              </a:rPr>
              <a:t>Feature importance chart</a:t>
            </a:r>
            <a:endParaRPr lang="en-US" sz="1100" dirty="0"/>
          </a:p>
          <a:p>
            <a:pPr marL="342900" indent="-342900">
              <a:lnSpc>
                <a:spcPct val="130000"/>
              </a:lnSpc>
              <a:buSzPct val="100000"/>
              <a:buChar char="•"/>
            </a:pPr>
            <a:r>
              <a:rPr lang="en-US" sz="1100" dirty="0">
                <a:solidFill>
                  <a:srgbClr val="2D2D2D"/>
                </a:solidFill>
                <a:latin typeface="Calibri" pitchFamily="34" charset="0"/>
                <a:ea typeface="Calibri" pitchFamily="34" charset="-122"/>
                <a:cs typeface="Calibri" pitchFamily="34" charset="-120"/>
              </a:rPr>
              <a:t>MAE/RMSE error comparison</a:t>
            </a:r>
            <a:endParaRPr lang="en-US" sz="1100" dirty="0"/>
          </a:p>
        </p:txBody>
      </p:sp>
      <p:sp>
        <p:nvSpPr>
          <p:cNvPr id="15" name="Text 13"/>
          <p:cNvSpPr/>
          <p:nvPr/>
        </p:nvSpPr>
        <p:spPr>
          <a:xfrm>
            <a:off x="8046720" y="4754880"/>
            <a:ext cx="914400" cy="274320"/>
          </a:xfrm>
          <a:prstGeom prst="rect">
            <a:avLst/>
          </a:prstGeom>
          <a:noFill/>
          <a:ln/>
        </p:spPr>
        <p:txBody>
          <a:bodyPr wrap="square" rtlCol="0" anchor="ctr"/>
          <a:lstStyle/>
          <a:p>
            <a:pPr algn="r" indent="0" marL="0">
              <a:buNone/>
            </a:pPr>
            <a:r>
              <a:rPr lang="en-US" sz="1000" dirty="0">
                <a:solidFill>
                  <a:srgbClr val="6B7B6E"/>
                </a:solidFill>
              </a:rPr>
              <a:t>6 / 12</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3A2D"/>
        </a:solidFill>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rtlCol="0" anchor="ctr"/>
          <a:lstStyle/>
          <a:p>
            <a:pPr indent="0" marL="0">
              <a:buNone/>
            </a:pPr>
            <a:r>
              <a:rPr lang="en-US" sz="3200" b="1" dirty="0">
                <a:solidFill>
                  <a:srgbClr val="97BC62"/>
                </a:solidFill>
                <a:latin typeface="Georgia" pitchFamily="34" charset="0"/>
                <a:ea typeface="Georgia" pitchFamily="34" charset="-122"/>
                <a:cs typeface="Georgia" pitchFamily="34" charset="-120"/>
              </a:rPr>
              <a:t>DATASET OVERVIEW</a:t>
            </a:r>
            <a:endParaRPr lang="en-US" sz="3200" dirty="0"/>
          </a:p>
        </p:txBody>
      </p:sp>
      <p:sp>
        <p:nvSpPr>
          <p:cNvPr id="3" name="Shape 1"/>
          <p:cNvSpPr/>
          <p:nvPr/>
        </p:nvSpPr>
        <p:spPr>
          <a:xfrm>
            <a:off x="457200" y="914400"/>
            <a:ext cx="1828800" cy="0"/>
          </a:xfrm>
          <a:prstGeom prst="line">
            <a:avLst/>
          </a:prstGeom>
          <a:noFill/>
          <a:ln w="38100">
            <a:solidFill>
              <a:srgbClr val="97BC62"/>
            </a:solidFill>
            <a:prstDash val="solid"/>
          </a:ln>
        </p:spPr>
      </p:sp>
      <p:sp>
        <p:nvSpPr>
          <p:cNvPr id="4" name="Text 2"/>
          <p:cNvSpPr/>
          <p:nvPr/>
        </p:nvSpPr>
        <p:spPr>
          <a:xfrm>
            <a:off x="457200" y="1097280"/>
            <a:ext cx="8229600" cy="457200"/>
          </a:xfrm>
          <a:prstGeom prst="rect">
            <a:avLst/>
          </a:prstGeom>
          <a:noFill/>
          <a:ln/>
        </p:spPr>
        <p:txBody>
          <a:bodyPr wrap="square"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2,000 samples  |  8 Crop Types  |  8 States  |  14 Features</a:t>
            </a:r>
            <a:endParaRPr lang="en-US" sz="1600" dirty="0"/>
          </a:p>
        </p:txBody>
      </p:sp>
      <p:sp>
        <p:nvSpPr>
          <p:cNvPr id="5" name="Shape 3"/>
          <p:cNvSpPr/>
          <p:nvPr/>
        </p:nvSpPr>
        <p:spPr>
          <a:xfrm>
            <a:off x="457200" y="1828800"/>
            <a:ext cx="1965960" cy="731520"/>
          </a:xfrm>
          <a:prstGeom prst="roundRect">
            <a:avLst>
              <a:gd name="adj" fmla="val 6250"/>
            </a:avLst>
          </a:prstGeom>
          <a:solidFill>
            <a:srgbClr val="2C5F2D"/>
          </a:solidFill>
          <a:ln/>
        </p:spPr>
      </p:sp>
      <p:sp>
        <p:nvSpPr>
          <p:cNvPr id="6" name="Text 4"/>
          <p:cNvSpPr/>
          <p:nvPr/>
        </p:nvSpPr>
        <p:spPr>
          <a:xfrm>
            <a:off x="457200" y="1828800"/>
            <a:ext cx="1965960" cy="731520"/>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Rainfall (mm)</a:t>
            </a:r>
            <a:endParaRPr lang="en-US" sz="1300" dirty="0"/>
          </a:p>
        </p:txBody>
      </p:sp>
      <p:sp>
        <p:nvSpPr>
          <p:cNvPr id="7" name="Shape 5"/>
          <p:cNvSpPr/>
          <p:nvPr/>
        </p:nvSpPr>
        <p:spPr>
          <a:xfrm>
            <a:off x="2606040" y="1828800"/>
            <a:ext cx="1965960" cy="731520"/>
          </a:xfrm>
          <a:prstGeom prst="roundRect">
            <a:avLst>
              <a:gd name="adj" fmla="val 6250"/>
            </a:avLst>
          </a:prstGeom>
          <a:solidFill>
            <a:srgbClr val="2C5F2D"/>
          </a:solidFill>
          <a:ln/>
        </p:spPr>
      </p:sp>
      <p:sp>
        <p:nvSpPr>
          <p:cNvPr id="8" name="Text 6"/>
          <p:cNvSpPr/>
          <p:nvPr/>
        </p:nvSpPr>
        <p:spPr>
          <a:xfrm>
            <a:off x="2606040" y="1828800"/>
            <a:ext cx="1965960" cy="731520"/>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Temperature (°C)</a:t>
            </a:r>
            <a:endParaRPr lang="en-US" sz="1300" dirty="0"/>
          </a:p>
        </p:txBody>
      </p:sp>
      <p:sp>
        <p:nvSpPr>
          <p:cNvPr id="9" name="Shape 7"/>
          <p:cNvSpPr/>
          <p:nvPr/>
        </p:nvSpPr>
        <p:spPr>
          <a:xfrm>
            <a:off x="4754880" y="1828800"/>
            <a:ext cx="1965960" cy="731520"/>
          </a:xfrm>
          <a:prstGeom prst="roundRect">
            <a:avLst>
              <a:gd name="adj" fmla="val 6250"/>
            </a:avLst>
          </a:prstGeom>
          <a:solidFill>
            <a:srgbClr val="2C5F2D"/>
          </a:solidFill>
          <a:ln/>
        </p:spPr>
      </p:sp>
      <p:sp>
        <p:nvSpPr>
          <p:cNvPr id="10" name="Text 8"/>
          <p:cNvSpPr/>
          <p:nvPr/>
        </p:nvSpPr>
        <p:spPr>
          <a:xfrm>
            <a:off x="4754880" y="1828800"/>
            <a:ext cx="1965960" cy="731520"/>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Humidity (%)</a:t>
            </a:r>
            <a:endParaRPr lang="en-US" sz="1300" dirty="0"/>
          </a:p>
        </p:txBody>
      </p:sp>
      <p:sp>
        <p:nvSpPr>
          <p:cNvPr id="11" name="Shape 9"/>
          <p:cNvSpPr/>
          <p:nvPr/>
        </p:nvSpPr>
        <p:spPr>
          <a:xfrm>
            <a:off x="6903720" y="1828800"/>
            <a:ext cx="1965960" cy="731520"/>
          </a:xfrm>
          <a:prstGeom prst="roundRect">
            <a:avLst>
              <a:gd name="adj" fmla="val 6250"/>
            </a:avLst>
          </a:prstGeom>
          <a:solidFill>
            <a:srgbClr val="2C5F2D"/>
          </a:solidFill>
          <a:ln/>
        </p:spPr>
      </p:sp>
      <p:sp>
        <p:nvSpPr>
          <p:cNvPr id="12" name="Text 10"/>
          <p:cNvSpPr/>
          <p:nvPr/>
        </p:nvSpPr>
        <p:spPr>
          <a:xfrm>
            <a:off x="6903720" y="1828800"/>
            <a:ext cx="1965960" cy="731520"/>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Soil pH</a:t>
            </a:r>
            <a:endParaRPr lang="en-US" sz="1300" dirty="0"/>
          </a:p>
        </p:txBody>
      </p:sp>
      <p:sp>
        <p:nvSpPr>
          <p:cNvPr id="13" name="Shape 11"/>
          <p:cNvSpPr/>
          <p:nvPr/>
        </p:nvSpPr>
        <p:spPr>
          <a:xfrm>
            <a:off x="457200" y="2834640"/>
            <a:ext cx="1965960" cy="731520"/>
          </a:xfrm>
          <a:prstGeom prst="roundRect">
            <a:avLst>
              <a:gd name="adj" fmla="val 6250"/>
            </a:avLst>
          </a:prstGeom>
          <a:solidFill>
            <a:srgbClr val="2C5F2D"/>
          </a:solidFill>
          <a:ln/>
        </p:spPr>
      </p:sp>
      <p:sp>
        <p:nvSpPr>
          <p:cNvPr id="14" name="Text 12"/>
          <p:cNvSpPr/>
          <p:nvPr/>
        </p:nvSpPr>
        <p:spPr>
          <a:xfrm>
            <a:off x="457200" y="2834640"/>
            <a:ext cx="1965960" cy="731520"/>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Nitrogen (kg)</a:t>
            </a:r>
            <a:endParaRPr lang="en-US" sz="1300" dirty="0"/>
          </a:p>
        </p:txBody>
      </p:sp>
      <p:sp>
        <p:nvSpPr>
          <p:cNvPr id="15" name="Shape 13"/>
          <p:cNvSpPr/>
          <p:nvPr/>
        </p:nvSpPr>
        <p:spPr>
          <a:xfrm>
            <a:off x="2606040" y="2834640"/>
            <a:ext cx="1965960" cy="731520"/>
          </a:xfrm>
          <a:prstGeom prst="roundRect">
            <a:avLst>
              <a:gd name="adj" fmla="val 6250"/>
            </a:avLst>
          </a:prstGeom>
          <a:solidFill>
            <a:srgbClr val="2C5F2D"/>
          </a:solidFill>
          <a:ln/>
        </p:spPr>
      </p:sp>
      <p:sp>
        <p:nvSpPr>
          <p:cNvPr id="16" name="Text 14"/>
          <p:cNvSpPr/>
          <p:nvPr/>
        </p:nvSpPr>
        <p:spPr>
          <a:xfrm>
            <a:off x="2606040" y="2834640"/>
            <a:ext cx="1965960" cy="731520"/>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Phosphorus (kg)</a:t>
            </a:r>
            <a:endParaRPr lang="en-US" sz="1300" dirty="0"/>
          </a:p>
        </p:txBody>
      </p:sp>
      <p:sp>
        <p:nvSpPr>
          <p:cNvPr id="17" name="Shape 15"/>
          <p:cNvSpPr/>
          <p:nvPr/>
        </p:nvSpPr>
        <p:spPr>
          <a:xfrm>
            <a:off x="4754880" y="2834640"/>
            <a:ext cx="1965960" cy="731520"/>
          </a:xfrm>
          <a:prstGeom prst="roundRect">
            <a:avLst>
              <a:gd name="adj" fmla="val 6250"/>
            </a:avLst>
          </a:prstGeom>
          <a:solidFill>
            <a:srgbClr val="2C5F2D"/>
          </a:solidFill>
          <a:ln/>
        </p:spPr>
      </p:sp>
      <p:sp>
        <p:nvSpPr>
          <p:cNvPr id="18" name="Text 16"/>
          <p:cNvSpPr/>
          <p:nvPr/>
        </p:nvSpPr>
        <p:spPr>
          <a:xfrm>
            <a:off x="4754880" y="2834640"/>
            <a:ext cx="1965960" cy="731520"/>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Potassium (kg)</a:t>
            </a:r>
            <a:endParaRPr lang="en-US" sz="1300" dirty="0"/>
          </a:p>
        </p:txBody>
      </p:sp>
      <p:sp>
        <p:nvSpPr>
          <p:cNvPr id="19" name="Shape 17"/>
          <p:cNvSpPr/>
          <p:nvPr/>
        </p:nvSpPr>
        <p:spPr>
          <a:xfrm>
            <a:off x="6903720" y="2834640"/>
            <a:ext cx="1965960" cy="731520"/>
          </a:xfrm>
          <a:prstGeom prst="roundRect">
            <a:avLst>
              <a:gd name="adj" fmla="val 6250"/>
            </a:avLst>
          </a:prstGeom>
          <a:solidFill>
            <a:srgbClr val="2C5F2D"/>
          </a:solidFill>
          <a:ln/>
        </p:spPr>
      </p:sp>
      <p:sp>
        <p:nvSpPr>
          <p:cNvPr id="20" name="Text 18"/>
          <p:cNvSpPr/>
          <p:nvPr/>
        </p:nvSpPr>
        <p:spPr>
          <a:xfrm>
            <a:off x="6903720" y="2834640"/>
            <a:ext cx="1965960" cy="731520"/>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Area (ha)</a:t>
            </a:r>
            <a:endParaRPr lang="en-US" sz="1300" dirty="0"/>
          </a:p>
        </p:txBody>
      </p:sp>
      <p:sp>
        <p:nvSpPr>
          <p:cNvPr id="21" name="Shape 19"/>
          <p:cNvSpPr/>
          <p:nvPr/>
        </p:nvSpPr>
        <p:spPr>
          <a:xfrm>
            <a:off x="457200" y="3840480"/>
            <a:ext cx="1965960" cy="731520"/>
          </a:xfrm>
          <a:prstGeom prst="roundRect">
            <a:avLst>
              <a:gd name="adj" fmla="val 6250"/>
            </a:avLst>
          </a:prstGeom>
          <a:solidFill>
            <a:srgbClr val="2C5F2D"/>
          </a:solidFill>
          <a:ln/>
        </p:spPr>
      </p:sp>
      <p:sp>
        <p:nvSpPr>
          <p:cNvPr id="22" name="Text 20"/>
          <p:cNvSpPr/>
          <p:nvPr/>
        </p:nvSpPr>
        <p:spPr>
          <a:xfrm>
            <a:off x="457200" y="3840480"/>
            <a:ext cx="1965960" cy="731520"/>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Crop Type</a:t>
            </a:r>
            <a:endParaRPr lang="en-US" sz="1300" dirty="0"/>
          </a:p>
        </p:txBody>
      </p:sp>
      <p:sp>
        <p:nvSpPr>
          <p:cNvPr id="23" name="Shape 21"/>
          <p:cNvSpPr/>
          <p:nvPr/>
        </p:nvSpPr>
        <p:spPr>
          <a:xfrm>
            <a:off x="2606040" y="3840480"/>
            <a:ext cx="1965960" cy="731520"/>
          </a:xfrm>
          <a:prstGeom prst="roundRect">
            <a:avLst>
              <a:gd name="adj" fmla="val 6250"/>
            </a:avLst>
          </a:prstGeom>
          <a:solidFill>
            <a:srgbClr val="2C5F2D"/>
          </a:solidFill>
          <a:ln/>
        </p:spPr>
      </p:sp>
      <p:sp>
        <p:nvSpPr>
          <p:cNvPr id="24" name="Text 22"/>
          <p:cNvSpPr/>
          <p:nvPr/>
        </p:nvSpPr>
        <p:spPr>
          <a:xfrm>
            <a:off x="2606040" y="3840480"/>
            <a:ext cx="1965960" cy="731520"/>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Soil Type</a:t>
            </a:r>
            <a:endParaRPr lang="en-US" sz="1300" dirty="0"/>
          </a:p>
        </p:txBody>
      </p:sp>
      <p:sp>
        <p:nvSpPr>
          <p:cNvPr id="25" name="Shape 23"/>
          <p:cNvSpPr/>
          <p:nvPr/>
        </p:nvSpPr>
        <p:spPr>
          <a:xfrm>
            <a:off x="4754880" y="3840480"/>
            <a:ext cx="1965960" cy="731520"/>
          </a:xfrm>
          <a:prstGeom prst="roundRect">
            <a:avLst>
              <a:gd name="adj" fmla="val 6250"/>
            </a:avLst>
          </a:prstGeom>
          <a:solidFill>
            <a:srgbClr val="2C5F2D"/>
          </a:solidFill>
          <a:ln/>
        </p:spPr>
      </p:sp>
      <p:sp>
        <p:nvSpPr>
          <p:cNvPr id="26" name="Text 24"/>
          <p:cNvSpPr/>
          <p:nvPr/>
        </p:nvSpPr>
        <p:spPr>
          <a:xfrm>
            <a:off x="4754880" y="3840480"/>
            <a:ext cx="1965960" cy="731520"/>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Season</a:t>
            </a:r>
            <a:endParaRPr lang="en-US" sz="1300" dirty="0"/>
          </a:p>
        </p:txBody>
      </p:sp>
      <p:sp>
        <p:nvSpPr>
          <p:cNvPr id="27" name="Shape 25"/>
          <p:cNvSpPr/>
          <p:nvPr/>
        </p:nvSpPr>
        <p:spPr>
          <a:xfrm>
            <a:off x="6903720" y="3840480"/>
            <a:ext cx="1965960" cy="731520"/>
          </a:xfrm>
          <a:prstGeom prst="roundRect">
            <a:avLst>
              <a:gd name="adj" fmla="val 6250"/>
            </a:avLst>
          </a:prstGeom>
          <a:solidFill>
            <a:srgbClr val="2C5F2D"/>
          </a:solidFill>
          <a:ln/>
        </p:spPr>
      </p:sp>
      <p:sp>
        <p:nvSpPr>
          <p:cNvPr id="28" name="Text 26"/>
          <p:cNvSpPr/>
          <p:nvPr/>
        </p:nvSpPr>
        <p:spPr>
          <a:xfrm>
            <a:off x="6903720" y="3840480"/>
            <a:ext cx="1965960" cy="731520"/>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State</a:t>
            </a:r>
            <a:endParaRPr lang="en-US" sz="1300" dirty="0"/>
          </a:p>
        </p:txBody>
      </p:sp>
      <p:sp>
        <p:nvSpPr>
          <p:cNvPr id="29" name="Text 27"/>
          <p:cNvSpPr/>
          <p:nvPr/>
        </p:nvSpPr>
        <p:spPr>
          <a:xfrm>
            <a:off x="457200" y="4572000"/>
            <a:ext cx="8229600" cy="365760"/>
          </a:xfrm>
          <a:prstGeom prst="rect">
            <a:avLst/>
          </a:prstGeom>
          <a:noFill/>
          <a:ln/>
        </p:spPr>
        <p:txBody>
          <a:bodyPr wrap="square" rtlCol="0" anchor="ctr"/>
          <a:lstStyle/>
          <a:p>
            <a:pPr algn="ctr" indent="0" marL="0">
              <a:buNone/>
            </a:pPr>
            <a:r>
              <a:rPr lang="en-US" sz="1400" b="1" dirty="0">
                <a:solidFill>
                  <a:srgbClr val="D4A843"/>
                </a:solidFill>
                <a:latin typeface="Calibri" pitchFamily="34" charset="0"/>
                <a:ea typeface="Calibri" pitchFamily="34" charset="-122"/>
                <a:cs typeface="Calibri" pitchFamily="34" charset="-120"/>
              </a:rPr>
              <a:t>Target Variable: Yield (Quintal/Hectare)</a:t>
            </a:r>
            <a:endParaRPr lang="en-US" sz="1400" dirty="0"/>
          </a:p>
        </p:txBody>
      </p:sp>
      <p:sp>
        <p:nvSpPr>
          <p:cNvPr id="30" name="Text 28"/>
          <p:cNvSpPr/>
          <p:nvPr/>
        </p:nvSpPr>
        <p:spPr>
          <a:xfrm>
            <a:off x="8046720" y="4754880"/>
            <a:ext cx="914400" cy="274320"/>
          </a:xfrm>
          <a:prstGeom prst="rect">
            <a:avLst/>
          </a:prstGeom>
          <a:noFill/>
          <a:ln/>
        </p:spPr>
        <p:txBody>
          <a:bodyPr wrap="square" rtlCol="0" anchor="ctr"/>
          <a:lstStyle/>
          <a:p>
            <a:pPr algn="r" indent="0" marL="0">
              <a:buNone/>
            </a:pPr>
            <a:r>
              <a:rPr lang="en-US" sz="1000" dirty="0">
                <a:solidFill>
                  <a:srgbClr val="6B7B6E"/>
                </a:solidFill>
              </a:rPr>
              <a:t>7 / 12</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2C5F2D"/>
          </a:solidFill>
          <a:ln/>
        </p:spPr>
      </p:sp>
      <p:sp>
        <p:nvSpPr>
          <p:cNvPr id="3" name="Text 1"/>
          <p:cNvSpPr/>
          <p:nvPr/>
        </p:nvSpPr>
        <p:spPr>
          <a:xfrm>
            <a:off x="457200" y="274320"/>
            <a:ext cx="8229600" cy="640080"/>
          </a:xfrm>
          <a:prstGeom prst="rect">
            <a:avLst/>
          </a:prstGeom>
          <a:noFill/>
          <a:ln/>
        </p:spPr>
        <p:txBody>
          <a:bodyPr wrap="square" rtlCol="0" anchor="ctr"/>
          <a:lstStyle/>
          <a:p>
            <a:pPr indent="0" marL="0">
              <a:buNone/>
            </a:pPr>
            <a:r>
              <a:rPr lang="en-US" sz="3200" b="1" dirty="0">
                <a:solidFill>
                  <a:srgbClr val="1B3A2D"/>
                </a:solidFill>
                <a:latin typeface="Georgia" pitchFamily="34" charset="0"/>
                <a:ea typeface="Georgia" pitchFamily="34" charset="-122"/>
                <a:cs typeface="Georgia" pitchFamily="34" charset="-120"/>
              </a:rPr>
              <a:t>METHODOLOGY</a:t>
            </a:r>
            <a:endParaRPr lang="en-US" sz="3200" dirty="0"/>
          </a:p>
        </p:txBody>
      </p:sp>
      <p:sp>
        <p:nvSpPr>
          <p:cNvPr id="4" name="Shape 2"/>
          <p:cNvSpPr/>
          <p:nvPr/>
        </p:nvSpPr>
        <p:spPr>
          <a:xfrm>
            <a:off x="457200" y="914400"/>
            <a:ext cx="1828800" cy="0"/>
          </a:xfrm>
          <a:prstGeom prst="line">
            <a:avLst/>
          </a:prstGeom>
          <a:noFill/>
          <a:ln w="38100">
            <a:solidFill>
              <a:srgbClr val="97BC62"/>
            </a:solidFill>
            <a:prstDash val="solid"/>
          </a:ln>
        </p:spPr>
      </p:sp>
      <p:sp>
        <p:nvSpPr>
          <p:cNvPr id="5" name="Shape 3"/>
          <p:cNvSpPr/>
          <p:nvPr/>
        </p:nvSpPr>
        <p:spPr>
          <a:xfrm>
            <a:off x="274320" y="1371600"/>
            <a:ext cx="1280160" cy="1097280"/>
          </a:xfrm>
          <a:prstGeom prst="roundRect">
            <a:avLst>
              <a:gd name="adj" fmla="val 6667"/>
            </a:avLst>
          </a:prstGeom>
          <a:solidFill>
            <a:srgbClr val="2C5F2D"/>
          </a:solidFill>
          <a:ln/>
        </p:spPr>
      </p:sp>
      <p:sp>
        <p:nvSpPr>
          <p:cNvPr id="6" name="Text 4"/>
          <p:cNvSpPr/>
          <p:nvPr/>
        </p:nvSpPr>
        <p:spPr>
          <a:xfrm>
            <a:off x="274320" y="1371600"/>
            <a:ext cx="1280160" cy="1097280"/>
          </a:xfrm>
          <a:prstGeom prst="rect">
            <a:avLst/>
          </a:prstGeom>
          <a:noFill/>
          <a:ln/>
        </p:spPr>
        <p:txBody>
          <a:bodyPr wrap="square"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Data</a:t>
            </a:r>
            <a:endParaRPr lang="en-US" sz="1100" dirty="0"/>
          </a:p>
          <a:p>
            <a:pPr algn="ctr" indent="0" marL="0">
              <a:buNone/>
            </a:pPr>
            <a:r>
              <a:rPr lang="en-US" sz="1100" b="1" dirty="0">
                <a:solidFill>
                  <a:srgbClr val="FFFFFF"/>
                </a:solidFill>
                <a:latin typeface="Georgia" pitchFamily="34" charset="0"/>
                <a:ea typeface="Georgia" pitchFamily="34" charset="-122"/>
                <a:cs typeface="Georgia" pitchFamily="34" charset="-120"/>
              </a:rPr>
              <a:t>Collection</a:t>
            </a:r>
            <a:endParaRPr lang="en-US" sz="1100" dirty="0"/>
          </a:p>
        </p:txBody>
      </p:sp>
      <p:sp>
        <p:nvSpPr>
          <p:cNvPr id="7" name="Shape 5"/>
          <p:cNvSpPr/>
          <p:nvPr/>
        </p:nvSpPr>
        <p:spPr>
          <a:xfrm>
            <a:off x="1554480" y="1920240"/>
            <a:ext cx="182880" cy="0"/>
          </a:xfrm>
          <a:prstGeom prst="line">
            <a:avLst/>
          </a:prstGeom>
          <a:noFill/>
          <a:ln w="25400">
            <a:solidFill>
              <a:srgbClr val="97BC62"/>
            </a:solidFill>
            <a:prstDash val="solid"/>
          </a:ln>
        </p:spPr>
      </p:sp>
      <p:sp>
        <p:nvSpPr>
          <p:cNvPr id="8" name="Text 6"/>
          <p:cNvSpPr/>
          <p:nvPr/>
        </p:nvSpPr>
        <p:spPr>
          <a:xfrm>
            <a:off x="274320" y="2651760"/>
            <a:ext cx="1280160" cy="731520"/>
          </a:xfrm>
          <a:prstGeom prst="rect">
            <a:avLst/>
          </a:prstGeom>
          <a:noFill/>
          <a:ln/>
        </p:spPr>
        <p:txBody>
          <a:bodyPr wrap="square" rtlCol="0" anchor="t"/>
          <a:lstStyle/>
          <a:p>
            <a:pPr algn="ctr" indent="0" marL="0">
              <a:buNone/>
            </a:pPr>
            <a:r>
              <a:rPr lang="en-US" sz="900" dirty="0">
                <a:solidFill>
                  <a:srgbClr val="6B7B6E"/>
                </a:solidFill>
                <a:latin typeface="Calibri" pitchFamily="34" charset="0"/>
                <a:ea typeface="Calibri" pitchFamily="34" charset="-122"/>
                <a:cs typeface="Calibri" pitchFamily="34" charset="-120"/>
              </a:rPr>
              <a:t>CSV dataset</a:t>
            </a:r>
            <a:endParaRPr lang="en-US" sz="900" dirty="0"/>
          </a:p>
          <a:p>
            <a:pPr algn="ctr" indent="0" marL="0">
              <a:buNone/>
            </a:pPr>
            <a:r>
              <a:rPr lang="en-US" sz="900" dirty="0">
                <a:solidFill>
                  <a:srgbClr val="6B7B6E"/>
                </a:solidFill>
                <a:latin typeface="Calibri" pitchFamily="34" charset="0"/>
                <a:ea typeface="Calibri" pitchFamily="34" charset="-122"/>
                <a:cs typeface="Calibri" pitchFamily="34" charset="-120"/>
              </a:rPr>
              <a:t>2000 samples</a:t>
            </a:r>
            <a:endParaRPr lang="en-US" sz="900" dirty="0"/>
          </a:p>
        </p:txBody>
      </p:sp>
      <p:sp>
        <p:nvSpPr>
          <p:cNvPr id="9" name="Shape 7"/>
          <p:cNvSpPr/>
          <p:nvPr/>
        </p:nvSpPr>
        <p:spPr>
          <a:xfrm>
            <a:off x="1737360" y="1371600"/>
            <a:ext cx="1280160" cy="1097280"/>
          </a:xfrm>
          <a:prstGeom prst="roundRect">
            <a:avLst>
              <a:gd name="adj" fmla="val 6667"/>
            </a:avLst>
          </a:prstGeom>
          <a:solidFill>
            <a:srgbClr val="2C5F2D"/>
          </a:solidFill>
          <a:ln/>
        </p:spPr>
      </p:sp>
      <p:sp>
        <p:nvSpPr>
          <p:cNvPr id="10" name="Text 8"/>
          <p:cNvSpPr/>
          <p:nvPr/>
        </p:nvSpPr>
        <p:spPr>
          <a:xfrm>
            <a:off x="1737360" y="1371600"/>
            <a:ext cx="1280160" cy="1097280"/>
          </a:xfrm>
          <a:prstGeom prst="rect">
            <a:avLst/>
          </a:prstGeom>
          <a:noFill/>
          <a:ln/>
        </p:spPr>
        <p:txBody>
          <a:bodyPr wrap="square"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Data</a:t>
            </a:r>
            <a:endParaRPr lang="en-US" sz="1100" dirty="0"/>
          </a:p>
          <a:p>
            <a:pPr algn="ctr" indent="0" marL="0">
              <a:buNone/>
            </a:pPr>
            <a:r>
              <a:rPr lang="en-US" sz="1100" b="1" dirty="0">
                <a:solidFill>
                  <a:srgbClr val="FFFFFF"/>
                </a:solidFill>
                <a:latin typeface="Georgia" pitchFamily="34" charset="0"/>
                <a:ea typeface="Georgia" pitchFamily="34" charset="-122"/>
                <a:cs typeface="Georgia" pitchFamily="34" charset="-120"/>
              </a:rPr>
              <a:t>Preprocessing</a:t>
            </a:r>
            <a:endParaRPr lang="en-US" sz="1100" dirty="0"/>
          </a:p>
        </p:txBody>
      </p:sp>
      <p:sp>
        <p:nvSpPr>
          <p:cNvPr id="11" name="Shape 9"/>
          <p:cNvSpPr/>
          <p:nvPr/>
        </p:nvSpPr>
        <p:spPr>
          <a:xfrm>
            <a:off x="3017520" y="1920240"/>
            <a:ext cx="182880" cy="0"/>
          </a:xfrm>
          <a:prstGeom prst="line">
            <a:avLst/>
          </a:prstGeom>
          <a:noFill/>
          <a:ln w="25400">
            <a:solidFill>
              <a:srgbClr val="97BC62"/>
            </a:solidFill>
            <a:prstDash val="solid"/>
          </a:ln>
        </p:spPr>
      </p:sp>
      <p:sp>
        <p:nvSpPr>
          <p:cNvPr id="12" name="Text 10"/>
          <p:cNvSpPr/>
          <p:nvPr/>
        </p:nvSpPr>
        <p:spPr>
          <a:xfrm>
            <a:off x="1737360" y="2651760"/>
            <a:ext cx="1280160" cy="731520"/>
          </a:xfrm>
          <a:prstGeom prst="rect">
            <a:avLst/>
          </a:prstGeom>
          <a:noFill/>
          <a:ln/>
        </p:spPr>
        <p:txBody>
          <a:bodyPr wrap="square" rtlCol="0" anchor="t"/>
          <a:lstStyle/>
          <a:p>
            <a:pPr algn="ctr" indent="0" marL="0">
              <a:buNone/>
            </a:pPr>
            <a:r>
              <a:rPr lang="en-US" sz="900" dirty="0">
                <a:solidFill>
                  <a:srgbClr val="6B7B6E"/>
                </a:solidFill>
                <a:latin typeface="Calibri" pitchFamily="34" charset="0"/>
                <a:ea typeface="Calibri" pitchFamily="34" charset="-122"/>
                <a:cs typeface="Calibri" pitchFamily="34" charset="-120"/>
              </a:rPr>
              <a:t>Label Encoding</a:t>
            </a:r>
            <a:endParaRPr lang="en-US" sz="900" dirty="0"/>
          </a:p>
          <a:p>
            <a:pPr algn="ctr" indent="0" marL="0">
              <a:buNone/>
            </a:pPr>
            <a:r>
              <a:rPr lang="en-US" sz="900" dirty="0">
                <a:solidFill>
                  <a:srgbClr val="6B7B6E"/>
                </a:solidFill>
                <a:latin typeface="Calibri" pitchFamily="34" charset="0"/>
                <a:ea typeface="Calibri" pitchFamily="34" charset="-122"/>
                <a:cs typeface="Calibri" pitchFamily="34" charset="-120"/>
              </a:rPr>
              <a:t>Scaling</a:t>
            </a:r>
            <a:endParaRPr lang="en-US" sz="900" dirty="0"/>
          </a:p>
        </p:txBody>
      </p:sp>
      <p:sp>
        <p:nvSpPr>
          <p:cNvPr id="13" name="Shape 11"/>
          <p:cNvSpPr/>
          <p:nvPr/>
        </p:nvSpPr>
        <p:spPr>
          <a:xfrm>
            <a:off x="3200400" y="1371600"/>
            <a:ext cx="1280160" cy="1097280"/>
          </a:xfrm>
          <a:prstGeom prst="roundRect">
            <a:avLst>
              <a:gd name="adj" fmla="val 6667"/>
            </a:avLst>
          </a:prstGeom>
          <a:solidFill>
            <a:srgbClr val="2C5F2D"/>
          </a:solidFill>
          <a:ln/>
        </p:spPr>
      </p:sp>
      <p:sp>
        <p:nvSpPr>
          <p:cNvPr id="14" name="Text 12"/>
          <p:cNvSpPr/>
          <p:nvPr/>
        </p:nvSpPr>
        <p:spPr>
          <a:xfrm>
            <a:off x="3200400" y="1371600"/>
            <a:ext cx="1280160" cy="1097280"/>
          </a:xfrm>
          <a:prstGeom prst="rect">
            <a:avLst/>
          </a:prstGeom>
          <a:noFill/>
          <a:ln/>
        </p:spPr>
        <p:txBody>
          <a:bodyPr wrap="square"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Feature</a:t>
            </a:r>
            <a:endParaRPr lang="en-US" sz="1100" dirty="0"/>
          </a:p>
          <a:p>
            <a:pPr algn="ctr" indent="0" marL="0">
              <a:buNone/>
            </a:pPr>
            <a:r>
              <a:rPr lang="en-US" sz="1100" b="1" dirty="0">
                <a:solidFill>
                  <a:srgbClr val="FFFFFF"/>
                </a:solidFill>
                <a:latin typeface="Georgia" pitchFamily="34" charset="0"/>
                <a:ea typeface="Georgia" pitchFamily="34" charset="-122"/>
                <a:cs typeface="Georgia" pitchFamily="34" charset="-120"/>
              </a:rPr>
              <a:t>Selection</a:t>
            </a:r>
            <a:endParaRPr lang="en-US" sz="1100" dirty="0"/>
          </a:p>
        </p:txBody>
      </p:sp>
      <p:sp>
        <p:nvSpPr>
          <p:cNvPr id="15" name="Shape 13"/>
          <p:cNvSpPr/>
          <p:nvPr/>
        </p:nvSpPr>
        <p:spPr>
          <a:xfrm>
            <a:off x="4480560" y="1920240"/>
            <a:ext cx="182880" cy="0"/>
          </a:xfrm>
          <a:prstGeom prst="line">
            <a:avLst/>
          </a:prstGeom>
          <a:noFill/>
          <a:ln w="25400">
            <a:solidFill>
              <a:srgbClr val="97BC62"/>
            </a:solidFill>
            <a:prstDash val="solid"/>
          </a:ln>
        </p:spPr>
      </p:sp>
      <p:sp>
        <p:nvSpPr>
          <p:cNvPr id="16" name="Text 14"/>
          <p:cNvSpPr/>
          <p:nvPr/>
        </p:nvSpPr>
        <p:spPr>
          <a:xfrm>
            <a:off x="3200400" y="2651760"/>
            <a:ext cx="1280160" cy="731520"/>
          </a:xfrm>
          <a:prstGeom prst="rect">
            <a:avLst/>
          </a:prstGeom>
          <a:noFill/>
          <a:ln/>
        </p:spPr>
        <p:txBody>
          <a:bodyPr wrap="square" rtlCol="0" anchor="t"/>
          <a:lstStyle/>
          <a:p>
            <a:pPr algn="ctr" indent="0" marL="0">
              <a:buNone/>
            </a:pPr>
            <a:r>
              <a:rPr lang="en-US" sz="900" dirty="0">
                <a:solidFill>
                  <a:srgbClr val="6B7B6E"/>
                </a:solidFill>
                <a:latin typeface="Calibri" pitchFamily="34" charset="0"/>
                <a:ea typeface="Calibri" pitchFamily="34" charset="-122"/>
                <a:cs typeface="Calibri" pitchFamily="34" charset="-120"/>
              </a:rPr>
              <a:t>13 features</a:t>
            </a:r>
            <a:endParaRPr lang="en-US" sz="900" dirty="0"/>
          </a:p>
          <a:p>
            <a:pPr algn="ctr" indent="0" marL="0">
              <a:buNone/>
            </a:pPr>
            <a:r>
              <a:rPr lang="en-US" sz="900" dirty="0">
                <a:solidFill>
                  <a:srgbClr val="6B7B6E"/>
                </a:solidFill>
                <a:latin typeface="Calibri" pitchFamily="34" charset="0"/>
                <a:ea typeface="Calibri" pitchFamily="34" charset="-122"/>
                <a:cs typeface="Calibri" pitchFamily="34" charset="-120"/>
              </a:rPr>
              <a:t>Correlation</a:t>
            </a:r>
            <a:endParaRPr lang="en-US" sz="900" dirty="0"/>
          </a:p>
        </p:txBody>
      </p:sp>
      <p:sp>
        <p:nvSpPr>
          <p:cNvPr id="17" name="Shape 15"/>
          <p:cNvSpPr/>
          <p:nvPr/>
        </p:nvSpPr>
        <p:spPr>
          <a:xfrm>
            <a:off x="4663440" y="1371600"/>
            <a:ext cx="1280160" cy="1097280"/>
          </a:xfrm>
          <a:prstGeom prst="roundRect">
            <a:avLst>
              <a:gd name="adj" fmla="val 6667"/>
            </a:avLst>
          </a:prstGeom>
          <a:solidFill>
            <a:srgbClr val="2C5F2D"/>
          </a:solidFill>
          <a:ln/>
        </p:spPr>
      </p:sp>
      <p:sp>
        <p:nvSpPr>
          <p:cNvPr id="18" name="Text 16"/>
          <p:cNvSpPr/>
          <p:nvPr/>
        </p:nvSpPr>
        <p:spPr>
          <a:xfrm>
            <a:off x="4663440" y="1371600"/>
            <a:ext cx="1280160" cy="1097280"/>
          </a:xfrm>
          <a:prstGeom prst="rect">
            <a:avLst/>
          </a:prstGeom>
          <a:noFill/>
          <a:ln/>
        </p:spPr>
        <p:txBody>
          <a:bodyPr wrap="square"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Train-Test</a:t>
            </a:r>
            <a:endParaRPr lang="en-US" sz="1100" dirty="0"/>
          </a:p>
          <a:p>
            <a:pPr algn="ctr" indent="0" marL="0">
              <a:buNone/>
            </a:pPr>
            <a:r>
              <a:rPr lang="en-US" sz="1100" b="1" dirty="0">
                <a:solidFill>
                  <a:srgbClr val="FFFFFF"/>
                </a:solidFill>
                <a:latin typeface="Georgia" pitchFamily="34" charset="0"/>
                <a:ea typeface="Georgia" pitchFamily="34" charset="-122"/>
                <a:cs typeface="Georgia" pitchFamily="34" charset="-120"/>
              </a:rPr>
              <a:t>Split</a:t>
            </a:r>
            <a:endParaRPr lang="en-US" sz="1100" dirty="0"/>
          </a:p>
        </p:txBody>
      </p:sp>
      <p:sp>
        <p:nvSpPr>
          <p:cNvPr id="19" name="Shape 17"/>
          <p:cNvSpPr/>
          <p:nvPr/>
        </p:nvSpPr>
        <p:spPr>
          <a:xfrm>
            <a:off x="5943600" y="1920240"/>
            <a:ext cx="182880" cy="0"/>
          </a:xfrm>
          <a:prstGeom prst="line">
            <a:avLst/>
          </a:prstGeom>
          <a:noFill/>
          <a:ln w="25400">
            <a:solidFill>
              <a:srgbClr val="97BC62"/>
            </a:solidFill>
            <a:prstDash val="solid"/>
          </a:ln>
        </p:spPr>
      </p:sp>
      <p:sp>
        <p:nvSpPr>
          <p:cNvPr id="20" name="Text 18"/>
          <p:cNvSpPr/>
          <p:nvPr/>
        </p:nvSpPr>
        <p:spPr>
          <a:xfrm>
            <a:off x="4663440" y="2651760"/>
            <a:ext cx="1280160" cy="731520"/>
          </a:xfrm>
          <a:prstGeom prst="rect">
            <a:avLst/>
          </a:prstGeom>
          <a:noFill/>
          <a:ln/>
        </p:spPr>
        <p:txBody>
          <a:bodyPr wrap="square" rtlCol="0" anchor="t"/>
          <a:lstStyle/>
          <a:p>
            <a:pPr algn="ctr" indent="0" marL="0">
              <a:buNone/>
            </a:pPr>
            <a:r>
              <a:rPr lang="en-US" sz="900" dirty="0">
                <a:solidFill>
                  <a:srgbClr val="6B7B6E"/>
                </a:solidFill>
                <a:latin typeface="Calibri" pitchFamily="34" charset="0"/>
                <a:ea typeface="Calibri" pitchFamily="34" charset="-122"/>
                <a:cs typeface="Calibri" pitchFamily="34" charset="-120"/>
              </a:rPr>
              <a:t>80% Train</a:t>
            </a:r>
            <a:endParaRPr lang="en-US" sz="900" dirty="0"/>
          </a:p>
          <a:p>
            <a:pPr algn="ctr" indent="0" marL="0">
              <a:buNone/>
            </a:pPr>
            <a:r>
              <a:rPr lang="en-US" sz="900" dirty="0">
                <a:solidFill>
                  <a:srgbClr val="6B7B6E"/>
                </a:solidFill>
                <a:latin typeface="Calibri" pitchFamily="34" charset="0"/>
                <a:ea typeface="Calibri" pitchFamily="34" charset="-122"/>
                <a:cs typeface="Calibri" pitchFamily="34" charset="-120"/>
              </a:rPr>
              <a:t>20% Test</a:t>
            </a:r>
            <a:endParaRPr lang="en-US" sz="900" dirty="0"/>
          </a:p>
        </p:txBody>
      </p:sp>
      <p:sp>
        <p:nvSpPr>
          <p:cNvPr id="21" name="Shape 19"/>
          <p:cNvSpPr/>
          <p:nvPr/>
        </p:nvSpPr>
        <p:spPr>
          <a:xfrm>
            <a:off x="6126480" y="1371600"/>
            <a:ext cx="1280160" cy="1097280"/>
          </a:xfrm>
          <a:prstGeom prst="roundRect">
            <a:avLst>
              <a:gd name="adj" fmla="val 6667"/>
            </a:avLst>
          </a:prstGeom>
          <a:solidFill>
            <a:srgbClr val="2C5F2D"/>
          </a:solidFill>
          <a:ln/>
        </p:spPr>
      </p:sp>
      <p:sp>
        <p:nvSpPr>
          <p:cNvPr id="22" name="Text 20"/>
          <p:cNvSpPr/>
          <p:nvPr/>
        </p:nvSpPr>
        <p:spPr>
          <a:xfrm>
            <a:off x="6126480" y="1371600"/>
            <a:ext cx="1280160" cy="1097280"/>
          </a:xfrm>
          <a:prstGeom prst="rect">
            <a:avLst/>
          </a:prstGeom>
          <a:noFill/>
          <a:ln/>
        </p:spPr>
        <p:txBody>
          <a:bodyPr wrap="square"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Model</a:t>
            </a:r>
            <a:endParaRPr lang="en-US" sz="1100" dirty="0"/>
          </a:p>
          <a:p>
            <a:pPr algn="ctr" indent="0" marL="0">
              <a:buNone/>
            </a:pPr>
            <a:r>
              <a:rPr lang="en-US" sz="1100" b="1" dirty="0">
                <a:solidFill>
                  <a:srgbClr val="FFFFFF"/>
                </a:solidFill>
                <a:latin typeface="Georgia" pitchFamily="34" charset="0"/>
                <a:ea typeface="Georgia" pitchFamily="34" charset="-122"/>
                <a:cs typeface="Georgia" pitchFamily="34" charset="-120"/>
              </a:rPr>
              <a:t>Training</a:t>
            </a:r>
            <a:endParaRPr lang="en-US" sz="1100" dirty="0"/>
          </a:p>
        </p:txBody>
      </p:sp>
      <p:sp>
        <p:nvSpPr>
          <p:cNvPr id="23" name="Shape 21"/>
          <p:cNvSpPr/>
          <p:nvPr/>
        </p:nvSpPr>
        <p:spPr>
          <a:xfrm>
            <a:off x="7406640" y="1920240"/>
            <a:ext cx="182880" cy="0"/>
          </a:xfrm>
          <a:prstGeom prst="line">
            <a:avLst/>
          </a:prstGeom>
          <a:noFill/>
          <a:ln w="25400">
            <a:solidFill>
              <a:srgbClr val="97BC62"/>
            </a:solidFill>
            <a:prstDash val="solid"/>
          </a:ln>
        </p:spPr>
      </p:sp>
      <p:sp>
        <p:nvSpPr>
          <p:cNvPr id="24" name="Text 22"/>
          <p:cNvSpPr/>
          <p:nvPr/>
        </p:nvSpPr>
        <p:spPr>
          <a:xfrm>
            <a:off x="6126480" y="2651760"/>
            <a:ext cx="1280160" cy="731520"/>
          </a:xfrm>
          <a:prstGeom prst="rect">
            <a:avLst/>
          </a:prstGeom>
          <a:noFill/>
          <a:ln/>
        </p:spPr>
        <p:txBody>
          <a:bodyPr wrap="square" rtlCol="0" anchor="t"/>
          <a:lstStyle/>
          <a:p>
            <a:pPr algn="ctr" indent="0" marL="0">
              <a:buNone/>
            </a:pPr>
            <a:r>
              <a:rPr lang="en-US" sz="900" dirty="0">
                <a:solidFill>
                  <a:srgbClr val="6B7B6E"/>
                </a:solidFill>
                <a:latin typeface="Calibri" pitchFamily="34" charset="0"/>
                <a:ea typeface="Calibri" pitchFamily="34" charset="-122"/>
                <a:cs typeface="Calibri" pitchFamily="34" charset="-120"/>
              </a:rPr>
              <a:t>4 ML</a:t>
            </a:r>
            <a:endParaRPr lang="en-US" sz="900" dirty="0"/>
          </a:p>
          <a:p>
            <a:pPr algn="ctr" indent="0" marL="0">
              <a:buNone/>
            </a:pPr>
            <a:r>
              <a:rPr lang="en-US" sz="900" dirty="0">
                <a:solidFill>
                  <a:srgbClr val="6B7B6E"/>
                </a:solidFill>
                <a:latin typeface="Calibri" pitchFamily="34" charset="0"/>
                <a:ea typeface="Calibri" pitchFamily="34" charset="-122"/>
                <a:cs typeface="Calibri" pitchFamily="34" charset="-120"/>
              </a:rPr>
              <a:t>Algorithms</a:t>
            </a:r>
            <a:endParaRPr lang="en-US" sz="900" dirty="0"/>
          </a:p>
        </p:txBody>
      </p:sp>
      <p:sp>
        <p:nvSpPr>
          <p:cNvPr id="25" name="Shape 23"/>
          <p:cNvSpPr/>
          <p:nvPr/>
        </p:nvSpPr>
        <p:spPr>
          <a:xfrm>
            <a:off x="7589520" y="1371600"/>
            <a:ext cx="1280160" cy="1097280"/>
          </a:xfrm>
          <a:prstGeom prst="roundRect">
            <a:avLst>
              <a:gd name="adj" fmla="val 6667"/>
            </a:avLst>
          </a:prstGeom>
          <a:solidFill>
            <a:srgbClr val="2C5F2D"/>
          </a:solidFill>
          <a:ln/>
        </p:spPr>
      </p:sp>
      <p:sp>
        <p:nvSpPr>
          <p:cNvPr id="26" name="Text 24"/>
          <p:cNvSpPr/>
          <p:nvPr/>
        </p:nvSpPr>
        <p:spPr>
          <a:xfrm>
            <a:off x="7589520" y="1371600"/>
            <a:ext cx="1280160" cy="1097280"/>
          </a:xfrm>
          <a:prstGeom prst="rect">
            <a:avLst/>
          </a:prstGeom>
          <a:noFill/>
          <a:ln/>
        </p:spPr>
        <p:txBody>
          <a:bodyPr wrap="square"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Evaluation</a:t>
            </a:r>
            <a:endParaRPr lang="en-US" sz="1100" dirty="0"/>
          </a:p>
          <a:p>
            <a:pPr algn="ctr" indent="0" marL="0">
              <a:buNone/>
            </a:pPr>
            <a:r>
              <a:rPr lang="en-US" sz="1100" b="1" dirty="0">
                <a:solidFill>
                  <a:srgbClr val="FFFFFF"/>
                </a:solidFill>
                <a:latin typeface="Georgia" pitchFamily="34" charset="0"/>
                <a:ea typeface="Georgia" pitchFamily="34" charset="-122"/>
                <a:cs typeface="Georgia" pitchFamily="34" charset="-120"/>
              </a:rPr>
              <a:t>&amp; Results</a:t>
            </a:r>
            <a:endParaRPr lang="en-US" sz="1100" dirty="0"/>
          </a:p>
        </p:txBody>
      </p:sp>
      <p:sp>
        <p:nvSpPr>
          <p:cNvPr id="27" name="Text 25"/>
          <p:cNvSpPr/>
          <p:nvPr/>
        </p:nvSpPr>
        <p:spPr>
          <a:xfrm>
            <a:off x="7589520" y="2651760"/>
            <a:ext cx="1280160" cy="731520"/>
          </a:xfrm>
          <a:prstGeom prst="rect">
            <a:avLst/>
          </a:prstGeom>
          <a:noFill/>
          <a:ln/>
        </p:spPr>
        <p:txBody>
          <a:bodyPr wrap="square" rtlCol="0" anchor="t"/>
          <a:lstStyle/>
          <a:p>
            <a:pPr algn="ctr" indent="0" marL="0">
              <a:buNone/>
            </a:pPr>
            <a:r>
              <a:rPr lang="en-US" sz="900" dirty="0">
                <a:solidFill>
                  <a:srgbClr val="6B7B6E"/>
                </a:solidFill>
                <a:latin typeface="Calibri" pitchFamily="34" charset="0"/>
                <a:ea typeface="Calibri" pitchFamily="34" charset="-122"/>
                <a:cs typeface="Calibri" pitchFamily="34" charset="-120"/>
              </a:rPr>
              <a:t>R², MAE</a:t>
            </a:r>
            <a:endParaRPr lang="en-US" sz="900" dirty="0"/>
          </a:p>
          <a:p>
            <a:pPr algn="ctr" indent="0" marL="0">
              <a:buNone/>
            </a:pPr>
            <a:r>
              <a:rPr lang="en-US" sz="900" dirty="0">
                <a:solidFill>
                  <a:srgbClr val="6B7B6E"/>
                </a:solidFill>
                <a:latin typeface="Calibri" pitchFamily="34" charset="0"/>
                <a:ea typeface="Calibri" pitchFamily="34" charset="-122"/>
                <a:cs typeface="Calibri" pitchFamily="34" charset="-120"/>
              </a:rPr>
              <a:t>RMSE</a:t>
            </a:r>
            <a:endParaRPr lang="en-US" sz="900" dirty="0"/>
          </a:p>
        </p:txBody>
      </p:sp>
      <p:sp>
        <p:nvSpPr>
          <p:cNvPr id="28" name="Text 26"/>
          <p:cNvSpPr/>
          <p:nvPr/>
        </p:nvSpPr>
        <p:spPr>
          <a:xfrm>
            <a:off x="457200" y="3566160"/>
            <a:ext cx="8229600" cy="320040"/>
          </a:xfrm>
          <a:prstGeom prst="rect">
            <a:avLst/>
          </a:prstGeom>
          <a:noFill/>
          <a:ln/>
        </p:spPr>
        <p:txBody>
          <a:bodyPr wrap="square" rtlCol="0" anchor="ctr"/>
          <a:lstStyle/>
          <a:p>
            <a:pPr indent="0" marL="0">
              <a:buNone/>
            </a:pPr>
            <a:r>
              <a:rPr lang="en-US" sz="1400" b="1" dirty="0">
                <a:solidFill>
                  <a:srgbClr val="1B3A2D"/>
                </a:solidFill>
                <a:latin typeface="Georgia" pitchFamily="34" charset="0"/>
                <a:ea typeface="Georgia" pitchFamily="34" charset="-122"/>
                <a:cs typeface="Georgia" pitchFamily="34" charset="-120"/>
              </a:rPr>
              <a:t>Preprocessing Pipeline</a:t>
            </a:r>
            <a:endParaRPr lang="en-US" sz="1400" dirty="0"/>
          </a:p>
        </p:txBody>
      </p:sp>
      <p:sp>
        <p:nvSpPr>
          <p:cNvPr id="29" name="Text 27"/>
          <p:cNvSpPr/>
          <p:nvPr/>
        </p:nvSpPr>
        <p:spPr>
          <a:xfrm>
            <a:off x="457200" y="3886200"/>
            <a:ext cx="8229600" cy="1005840"/>
          </a:xfrm>
          <a:prstGeom prst="rect">
            <a:avLst/>
          </a:prstGeom>
          <a:noFill/>
          <a:ln/>
        </p:spPr>
        <p:txBody>
          <a:bodyPr wrap="square" rtlCol="0" anchor="ctr"/>
          <a:lstStyle/>
          <a:p>
            <a:pPr marL="342900" indent="-342900">
              <a:lnSpc>
                <a:spcPct val="130000"/>
              </a:lnSpc>
              <a:buSzPct val="100000"/>
              <a:buChar char="•"/>
            </a:pPr>
            <a:r>
              <a:rPr lang="en-US" sz="1100" dirty="0">
                <a:solidFill>
                  <a:srgbClr val="2D2D2D"/>
                </a:solidFill>
                <a:latin typeface="Calibri" pitchFamily="34" charset="0"/>
                <a:ea typeface="Calibri" pitchFamily="34" charset="-122"/>
                <a:cs typeface="Calibri" pitchFamily="34" charset="-120"/>
              </a:rPr>
              <a:t>Categorical features (Crop, Soil, Season, State) encoded using LabelEncoder</a:t>
            </a:r>
            <a:endParaRPr lang="en-US" sz="1100" dirty="0"/>
          </a:p>
          <a:p>
            <a:pPr marL="342900" indent="-342900">
              <a:lnSpc>
                <a:spcPct val="130000"/>
              </a:lnSpc>
              <a:buSzPct val="100000"/>
              <a:buChar char="•"/>
            </a:pPr>
            <a:r>
              <a:rPr lang="en-US" sz="1100" dirty="0">
                <a:solidFill>
                  <a:srgbClr val="2D2D2D"/>
                </a:solidFill>
                <a:latin typeface="Calibri" pitchFamily="34" charset="0"/>
                <a:ea typeface="Calibri" pitchFamily="34" charset="-122"/>
                <a:cs typeface="Calibri" pitchFamily="34" charset="-120"/>
              </a:rPr>
              <a:t>Numerical features standardized with StandardScaler for SVR model</a:t>
            </a:r>
            <a:endParaRPr lang="en-US" sz="1100" dirty="0"/>
          </a:p>
          <a:p>
            <a:pPr marL="342900" indent="-342900">
              <a:lnSpc>
                <a:spcPct val="130000"/>
              </a:lnSpc>
              <a:buSzPct val="100000"/>
              <a:buChar char="•"/>
            </a:pPr>
            <a:r>
              <a:rPr lang="en-US" sz="1100" dirty="0">
                <a:solidFill>
                  <a:srgbClr val="2D2D2D"/>
                </a:solidFill>
                <a:latin typeface="Calibri" pitchFamily="34" charset="0"/>
                <a:ea typeface="Calibri" pitchFamily="34" charset="-122"/>
                <a:cs typeface="Calibri" pitchFamily="34" charset="-120"/>
              </a:rPr>
              <a:t>No missing values in the synthetic dataset; production data would require imputation</a:t>
            </a:r>
            <a:endParaRPr lang="en-US" sz="1100" dirty="0"/>
          </a:p>
        </p:txBody>
      </p:sp>
      <p:sp>
        <p:nvSpPr>
          <p:cNvPr id="30" name="Text 28"/>
          <p:cNvSpPr/>
          <p:nvPr/>
        </p:nvSpPr>
        <p:spPr>
          <a:xfrm>
            <a:off x="8046720" y="4754880"/>
            <a:ext cx="914400" cy="274320"/>
          </a:xfrm>
          <a:prstGeom prst="rect">
            <a:avLst/>
          </a:prstGeom>
          <a:noFill/>
          <a:ln/>
        </p:spPr>
        <p:txBody>
          <a:bodyPr wrap="square" rtlCol="0" anchor="ctr"/>
          <a:lstStyle/>
          <a:p>
            <a:pPr algn="r" indent="0" marL="0">
              <a:buNone/>
            </a:pPr>
            <a:r>
              <a:rPr lang="en-US" sz="1000" dirty="0">
                <a:solidFill>
                  <a:srgbClr val="6B7B6E"/>
                </a:solidFill>
              </a:rPr>
              <a:t>8 / 12</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2C5F2D"/>
          </a:solidFill>
          <a:ln/>
        </p:spPr>
      </p:sp>
      <p:sp>
        <p:nvSpPr>
          <p:cNvPr id="3" name="Text 1"/>
          <p:cNvSpPr/>
          <p:nvPr/>
        </p:nvSpPr>
        <p:spPr>
          <a:xfrm>
            <a:off x="457200" y="274320"/>
            <a:ext cx="8229600" cy="640080"/>
          </a:xfrm>
          <a:prstGeom prst="rect">
            <a:avLst/>
          </a:prstGeom>
          <a:noFill/>
          <a:ln/>
        </p:spPr>
        <p:txBody>
          <a:bodyPr wrap="square" rtlCol="0" anchor="ctr"/>
          <a:lstStyle/>
          <a:p>
            <a:pPr indent="0" marL="0">
              <a:buNone/>
            </a:pPr>
            <a:r>
              <a:rPr lang="en-US" sz="3200" b="1" dirty="0">
                <a:solidFill>
                  <a:srgbClr val="1B3A2D"/>
                </a:solidFill>
                <a:latin typeface="Georgia" pitchFamily="34" charset="0"/>
                <a:ea typeface="Georgia" pitchFamily="34" charset="-122"/>
                <a:cs typeface="Georgia" pitchFamily="34" charset="-120"/>
              </a:rPr>
              <a:t>MODEL COMPARISON</a:t>
            </a:r>
            <a:endParaRPr lang="en-US" sz="3200" dirty="0"/>
          </a:p>
        </p:txBody>
      </p:sp>
      <p:sp>
        <p:nvSpPr>
          <p:cNvPr id="4" name="Shape 2"/>
          <p:cNvSpPr/>
          <p:nvPr/>
        </p:nvSpPr>
        <p:spPr>
          <a:xfrm>
            <a:off x="457200" y="914400"/>
            <a:ext cx="1828800" cy="0"/>
          </a:xfrm>
          <a:prstGeom prst="line">
            <a:avLst/>
          </a:prstGeom>
          <a:noFill/>
          <a:ln w="38100">
            <a:solidFill>
              <a:srgbClr val="97BC62"/>
            </a:solidFill>
            <a:prstDash val="solid"/>
          </a:ln>
        </p:spPr>
      </p:sp>
      <p:sp>
        <p:nvSpPr>
          <p:cNvPr id="5" name="Shape 3"/>
          <p:cNvSpPr/>
          <p:nvPr/>
        </p:nvSpPr>
        <p:spPr>
          <a:xfrm>
            <a:off x="457200" y="1188720"/>
            <a:ext cx="2286000" cy="457200"/>
          </a:xfrm>
          <a:prstGeom prst="rect">
            <a:avLst/>
          </a:prstGeom>
          <a:solidFill>
            <a:srgbClr val="2C5F2D"/>
          </a:solidFill>
          <a:ln/>
        </p:spPr>
      </p:sp>
      <p:sp>
        <p:nvSpPr>
          <p:cNvPr id="6" name="Text 4"/>
          <p:cNvSpPr/>
          <p:nvPr/>
        </p:nvSpPr>
        <p:spPr>
          <a:xfrm>
            <a:off x="457200" y="1188720"/>
            <a:ext cx="2286000" cy="457200"/>
          </a:xfrm>
          <a:prstGeom prst="rect">
            <a:avLst/>
          </a:prstGeom>
          <a:noFill/>
          <a:ln/>
        </p:spPr>
        <p:txBody>
          <a:bodyPr wrap="square"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Model</a:t>
            </a:r>
            <a:endParaRPr lang="en-US" sz="1300" dirty="0"/>
          </a:p>
        </p:txBody>
      </p:sp>
      <p:sp>
        <p:nvSpPr>
          <p:cNvPr id="7" name="Shape 5"/>
          <p:cNvSpPr/>
          <p:nvPr/>
        </p:nvSpPr>
        <p:spPr>
          <a:xfrm>
            <a:off x="2743200" y="1188720"/>
            <a:ext cx="1645920" cy="457200"/>
          </a:xfrm>
          <a:prstGeom prst="rect">
            <a:avLst/>
          </a:prstGeom>
          <a:solidFill>
            <a:srgbClr val="2C5F2D"/>
          </a:solidFill>
          <a:ln/>
        </p:spPr>
      </p:sp>
      <p:sp>
        <p:nvSpPr>
          <p:cNvPr id="8" name="Text 6"/>
          <p:cNvSpPr/>
          <p:nvPr/>
        </p:nvSpPr>
        <p:spPr>
          <a:xfrm>
            <a:off x="2743200" y="1188720"/>
            <a:ext cx="1645920" cy="457200"/>
          </a:xfrm>
          <a:prstGeom prst="rect">
            <a:avLst/>
          </a:prstGeom>
          <a:noFill/>
          <a:ln/>
        </p:spPr>
        <p:txBody>
          <a:bodyPr wrap="square"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MAE</a:t>
            </a:r>
            <a:endParaRPr lang="en-US" sz="1300" dirty="0"/>
          </a:p>
        </p:txBody>
      </p:sp>
      <p:sp>
        <p:nvSpPr>
          <p:cNvPr id="9" name="Shape 7"/>
          <p:cNvSpPr/>
          <p:nvPr/>
        </p:nvSpPr>
        <p:spPr>
          <a:xfrm>
            <a:off x="4389120" y="1188720"/>
            <a:ext cx="1645920" cy="457200"/>
          </a:xfrm>
          <a:prstGeom prst="rect">
            <a:avLst/>
          </a:prstGeom>
          <a:solidFill>
            <a:srgbClr val="2C5F2D"/>
          </a:solidFill>
          <a:ln/>
        </p:spPr>
      </p:sp>
      <p:sp>
        <p:nvSpPr>
          <p:cNvPr id="10" name="Text 8"/>
          <p:cNvSpPr/>
          <p:nvPr/>
        </p:nvSpPr>
        <p:spPr>
          <a:xfrm>
            <a:off x="4389120" y="1188720"/>
            <a:ext cx="1645920" cy="457200"/>
          </a:xfrm>
          <a:prstGeom prst="rect">
            <a:avLst/>
          </a:prstGeom>
          <a:noFill/>
          <a:ln/>
        </p:spPr>
        <p:txBody>
          <a:bodyPr wrap="square"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RMSE</a:t>
            </a:r>
            <a:endParaRPr lang="en-US" sz="1300" dirty="0"/>
          </a:p>
        </p:txBody>
      </p:sp>
      <p:sp>
        <p:nvSpPr>
          <p:cNvPr id="11" name="Shape 9"/>
          <p:cNvSpPr/>
          <p:nvPr/>
        </p:nvSpPr>
        <p:spPr>
          <a:xfrm>
            <a:off x="6035040" y="1188720"/>
            <a:ext cx="1463040" cy="457200"/>
          </a:xfrm>
          <a:prstGeom prst="rect">
            <a:avLst/>
          </a:prstGeom>
          <a:solidFill>
            <a:srgbClr val="2C5F2D"/>
          </a:solidFill>
          <a:ln/>
        </p:spPr>
      </p:sp>
      <p:sp>
        <p:nvSpPr>
          <p:cNvPr id="12" name="Text 10"/>
          <p:cNvSpPr/>
          <p:nvPr/>
        </p:nvSpPr>
        <p:spPr>
          <a:xfrm>
            <a:off x="6035040" y="1188720"/>
            <a:ext cx="1463040" cy="457200"/>
          </a:xfrm>
          <a:prstGeom prst="rect">
            <a:avLst/>
          </a:prstGeom>
          <a:noFill/>
          <a:ln/>
        </p:spPr>
        <p:txBody>
          <a:bodyPr wrap="square"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R² Score</a:t>
            </a:r>
            <a:endParaRPr lang="en-US" sz="1300" dirty="0"/>
          </a:p>
        </p:txBody>
      </p:sp>
      <p:sp>
        <p:nvSpPr>
          <p:cNvPr id="13" name="Shape 11"/>
          <p:cNvSpPr/>
          <p:nvPr/>
        </p:nvSpPr>
        <p:spPr>
          <a:xfrm>
            <a:off x="7498080" y="1188720"/>
            <a:ext cx="1188720" cy="457200"/>
          </a:xfrm>
          <a:prstGeom prst="rect">
            <a:avLst/>
          </a:prstGeom>
          <a:solidFill>
            <a:srgbClr val="2C5F2D"/>
          </a:solidFill>
          <a:ln/>
        </p:spPr>
      </p:sp>
      <p:sp>
        <p:nvSpPr>
          <p:cNvPr id="14" name="Text 12"/>
          <p:cNvSpPr/>
          <p:nvPr/>
        </p:nvSpPr>
        <p:spPr>
          <a:xfrm>
            <a:off x="7498080" y="1188720"/>
            <a:ext cx="1188720" cy="457200"/>
          </a:xfrm>
          <a:prstGeom prst="rect">
            <a:avLst/>
          </a:prstGeom>
          <a:noFill/>
          <a:ln/>
        </p:spPr>
        <p:txBody>
          <a:bodyPr wrap="square"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Rank</a:t>
            </a:r>
            <a:endParaRPr lang="en-US" sz="1300" dirty="0"/>
          </a:p>
        </p:txBody>
      </p:sp>
      <p:sp>
        <p:nvSpPr>
          <p:cNvPr id="15" name="Shape 13"/>
          <p:cNvSpPr/>
          <p:nvPr/>
        </p:nvSpPr>
        <p:spPr>
          <a:xfrm>
            <a:off x="457200" y="1645920"/>
            <a:ext cx="2286000" cy="502920"/>
          </a:xfrm>
          <a:prstGeom prst="rect">
            <a:avLst/>
          </a:prstGeom>
          <a:solidFill>
            <a:srgbClr val="E8F0E3"/>
          </a:solidFill>
          <a:ln/>
        </p:spPr>
      </p:sp>
      <p:sp>
        <p:nvSpPr>
          <p:cNvPr id="16" name="Text 14"/>
          <p:cNvSpPr/>
          <p:nvPr/>
        </p:nvSpPr>
        <p:spPr>
          <a:xfrm>
            <a:off x="457200" y="1645920"/>
            <a:ext cx="2286000" cy="502920"/>
          </a:xfrm>
          <a:prstGeom prst="rect">
            <a:avLst/>
          </a:prstGeom>
          <a:noFill/>
          <a:ln/>
        </p:spPr>
        <p:txBody>
          <a:bodyPr wrap="square" rtlCol="0" anchor="ctr"/>
          <a:lstStyle/>
          <a:p>
            <a:pPr algn="ctr" indent="0" marL="0">
              <a:buNone/>
            </a:pPr>
            <a:r>
              <a:rPr lang="en-US" sz="1200" dirty="0">
                <a:solidFill>
                  <a:srgbClr val="2D2D2D"/>
                </a:solidFill>
                <a:latin typeface="Calibri" pitchFamily="34" charset="0"/>
                <a:ea typeface="Calibri" pitchFamily="34" charset="-122"/>
                <a:cs typeface="Calibri" pitchFamily="34" charset="-120"/>
              </a:rPr>
              <a:t>Linear Regression</a:t>
            </a:r>
            <a:endParaRPr lang="en-US" sz="1200" dirty="0"/>
          </a:p>
        </p:txBody>
      </p:sp>
      <p:sp>
        <p:nvSpPr>
          <p:cNvPr id="17" name="Shape 15"/>
          <p:cNvSpPr/>
          <p:nvPr/>
        </p:nvSpPr>
        <p:spPr>
          <a:xfrm>
            <a:off x="2743200" y="1645920"/>
            <a:ext cx="1645920" cy="502920"/>
          </a:xfrm>
          <a:prstGeom prst="rect">
            <a:avLst/>
          </a:prstGeom>
          <a:solidFill>
            <a:srgbClr val="E8F0E3"/>
          </a:solidFill>
          <a:ln/>
        </p:spPr>
      </p:sp>
      <p:sp>
        <p:nvSpPr>
          <p:cNvPr id="18" name="Text 16"/>
          <p:cNvSpPr/>
          <p:nvPr/>
        </p:nvSpPr>
        <p:spPr>
          <a:xfrm>
            <a:off x="2743200" y="1645920"/>
            <a:ext cx="1645920" cy="502920"/>
          </a:xfrm>
          <a:prstGeom prst="rect">
            <a:avLst/>
          </a:prstGeom>
          <a:noFill/>
          <a:ln/>
        </p:spPr>
        <p:txBody>
          <a:bodyPr wrap="square" rtlCol="0" anchor="ctr"/>
          <a:lstStyle/>
          <a:p>
            <a:pPr algn="ctr" indent="0" marL="0">
              <a:buNone/>
            </a:pPr>
            <a:r>
              <a:rPr lang="en-US" sz="1200" dirty="0">
                <a:solidFill>
                  <a:srgbClr val="2D2D2D"/>
                </a:solidFill>
                <a:latin typeface="Calibri" pitchFamily="34" charset="0"/>
                <a:ea typeface="Calibri" pitchFamily="34" charset="-122"/>
                <a:cs typeface="Calibri" pitchFamily="34" charset="-120"/>
              </a:rPr>
              <a:t>3.85</a:t>
            </a:r>
            <a:endParaRPr lang="en-US" sz="1200" dirty="0"/>
          </a:p>
        </p:txBody>
      </p:sp>
      <p:sp>
        <p:nvSpPr>
          <p:cNvPr id="19" name="Shape 17"/>
          <p:cNvSpPr/>
          <p:nvPr/>
        </p:nvSpPr>
        <p:spPr>
          <a:xfrm>
            <a:off x="4389120" y="1645920"/>
            <a:ext cx="1645920" cy="502920"/>
          </a:xfrm>
          <a:prstGeom prst="rect">
            <a:avLst/>
          </a:prstGeom>
          <a:solidFill>
            <a:srgbClr val="E8F0E3"/>
          </a:solidFill>
          <a:ln/>
        </p:spPr>
      </p:sp>
      <p:sp>
        <p:nvSpPr>
          <p:cNvPr id="20" name="Text 18"/>
          <p:cNvSpPr/>
          <p:nvPr/>
        </p:nvSpPr>
        <p:spPr>
          <a:xfrm>
            <a:off x="4389120" y="1645920"/>
            <a:ext cx="1645920" cy="502920"/>
          </a:xfrm>
          <a:prstGeom prst="rect">
            <a:avLst/>
          </a:prstGeom>
          <a:noFill/>
          <a:ln/>
        </p:spPr>
        <p:txBody>
          <a:bodyPr wrap="square" rtlCol="0" anchor="ctr"/>
          <a:lstStyle/>
          <a:p>
            <a:pPr algn="ctr" indent="0" marL="0">
              <a:buNone/>
            </a:pPr>
            <a:r>
              <a:rPr lang="en-US" sz="1200" dirty="0">
                <a:solidFill>
                  <a:srgbClr val="2D2D2D"/>
                </a:solidFill>
                <a:latin typeface="Calibri" pitchFamily="34" charset="0"/>
                <a:ea typeface="Calibri" pitchFamily="34" charset="-122"/>
                <a:cs typeface="Calibri" pitchFamily="34" charset="-120"/>
              </a:rPr>
              <a:t>4.72</a:t>
            </a:r>
            <a:endParaRPr lang="en-US" sz="1200" dirty="0"/>
          </a:p>
        </p:txBody>
      </p:sp>
      <p:sp>
        <p:nvSpPr>
          <p:cNvPr id="21" name="Shape 19"/>
          <p:cNvSpPr/>
          <p:nvPr/>
        </p:nvSpPr>
        <p:spPr>
          <a:xfrm>
            <a:off x="6035040" y="1645920"/>
            <a:ext cx="1463040" cy="502920"/>
          </a:xfrm>
          <a:prstGeom prst="rect">
            <a:avLst/>
          </a:prstGeom>
          <a:solidFill>
            <a:srgbClr val="E8F0E3"/>
          </a:solidFill>
          <a:ln/>
        </p:spPr>
      </p:sp>
      <p:sp>
        <p:nvSpPr>
          <p:cNvPr id="22" name="Text 20"/>
          <p:cNvSpPr/>
          <p:nvPr/>
        </p:nvSpPr>
        <p:spPr>
          <a:xfrm>
            <a:off x="6035040" y="1645920"/>
            <a:ext cx="1463040" cy="502920"/>
          </a:xfrm>
          <a:prstGeom prst="rect">
            <a:avLst/>
          </a:prstGeom>
          <a:noFill/>
          <a:ln/>
        </p:spPr>
        <p:txBody>
          <a:bodyPr wrap="square" rtlCol="0" anchor="ctr"/>
          <a:lstStyle/>
          <a:p>
            <a:pPr algn="ctr" indent="0" marL="0">
              <a:buNone/>
            </a:pPr>
            <a:r>
              <a:rPr lang="en-US" sz="1200" dirty="0">
                <a:solidFill>
                  <a:srgbClr val="2D2D2D"/>
                </a:solidFill>
                <a:latin typeface="Calibri" pitchFamily="34" charset="0"/>
                <a:ea typeface="Calibri" pitchFamily="34" charset="-122"/>
                <a:cs typeface="Calibri" pitchFamily="34" charset="-120"/>
              </a:rPr>
              <a:t>0.821</a:t>
            </a:r>
            <a:endParaRPr lang="en-US" sz="1200" dirty="0"/>
          </a:p>
        </p:txBody>
      </p:sp>
      <p:sp>
        <p:nvSpPr>
          <p:cNvPr id="23" name="Shape 21"/>
          <p:cNvSpPr/>
          <p:nvPr/>
        </p:nvSpPr>
        <p:spPr>
          <a:xfrm>
            <a:off x="7498080" y="1645920"/>
            <a:ext cx="1188720" cy="502920"/>
          </a:xfrm>
          <a:prstGeom prst="rect">
            <a:avLst/>
          </a:prstGeom>
          <a:solidFill>
            <a:srgbClr val="E8F0E3"/>
          </a:solidFill>
          <a:ln/>
        </p:spPr>
      </p:sp>
      <p:sp>
        <p:nvSpPr>
          <p:cNvPr id="24" name="Text 22"/>
          <p:cNvSpPr/>
          <p:nvPr/>
        </p:nvSpPr>
        <p:spPr>
          <a:xfrm>
            <a:off x="7498080" y="1645920"/>
            <a:ext cx="1188720" cy="502920"/>
          </a:xfrm>
          <a:prstGeom prst="rect">
            <a:avLst/>
          </a:prstGeom>
          <a:noFill/>
          <a:ln/>
        </p:spPr>
        <p:txBody>
          <a:bodyPr wrap="square" rtlCol="0" anchor="ctr"/>
          <a:lstStyle/>
          <a:p>
            <a:pPr algn="ctr" indent="0" marL="0">
              <a:buNone/>
            </a:pPr>
            <a:r>
              <a:rPr lang="en-US" sz="1200" dirty="0">
                <a:solidFill>
                  <a:srgbClr val="2D2D2D"/>
                </a:solidFill>
                <a:latin typeface="Calibri" pitchFamily="34" charset="0"/>
                <a:ea typeface="Calibri" pitchFamily="34" charset="-122"/>
                <a:cs typeface="Calibri" pitchFamily="34" charset="-120"/>
              </a:rPr>
              <a:t>4th</a:t>
            </a:r>
            <a:endParaRPr lang="en-US" sz="1200" dirty="0"/>
          </a:p>
        </p:txBody>
      </p:sp>
      <p:sp>
        <p:nvSpPr>
          <p:cNvPr id="25" name="Shape 23"/>
          <p:cNvSpPr/>
          <p:nvPr/>
        </p:nvSpPr>
        <p:spPr>
          <a:xfrm>
            <a:off x="457200" y="2148840"/>
            <a:ext cx="2286000" cy="502920"/>
          </a:xfrm>
          <a:prstGeom prst="rect">
            <a:avLst/>
          </a:prstGeom>
          <a:solidFill>
            <a:srgbClr val="FFFFFF"/>
          </a:solidFill>
          <a:ln/>
        </p:spPr>
      </p:sp>
      <p:sp>
        <p:nvSpPr>
          <p:cNvPr id="26" name="Text 24"/>
          <p:cNvSpPr/>
          <p:nvPr/>
        </p:nvSpPr>
        <p:spPr>
          <a:xfrm>
            <a:off x="457200" y="2148840"/>
            <a:ext cx="2286000" cy="502920"/>
          </a:xfrm>
          <a:prstGeom prst="rect">
            <a:avLst/>
          </a:prstGeom>
          <a:noFill/>
          <a:ln/>
        </p:spPr>
        <p:txBody>
          <a:bodyPr wrap="square" rtlCol="0" anchor="ctr"/>
          <a:lstStyle/>
          <a:p>
            <a:pPr algn="ctr" indent="0" marL="0">
              <a:buNone/>
            </a:pPr>
            <a:r>
              <a:rPr lang="en-US" sz="1200" b="1" dirty="0">
                <a:solidFill>
                  <a:srgbClr val="2C5F2D"/>
                </a:solidFill>
                <a:latin typeface="Calibri" pitchFamily="34" charset="0"/>
                <a:ea typeface="Calibri" pitchFamily="34" charset="-122"/>
                <a:cs typeface="Calibri" pitchFamily="34" charset="-120"/>
              </a:rPr>
              <a:t>Random Forest</a:t>
            </a:r>
            <a:endParaRPr lang="en-US" sz="1200" dirty="0"/>
          </a:p>
        </p:txBody>
      </p:sp>
      <p:sp>
        <p:nvSpPr>
          <p:cNvPr id="27" name="Shape 25"/>
          <p:cNvSpPr/>
          <p:nvPr/>
        </p:nvSpPr>
        <p:spPr>
          <a:xfrm>
            <a:off x="2743200" y="2148840"/>
            <a:ext cx="1645920" cy="502920"/>
          </a:xfrm>
          <a:prstGeom prst="rect">
            <a:avLst/>
          </a:prstGeom>
          <a:solidFill>
            <a:srgbClr val="FFFFFF"/>
          </a:solidFill>
          <a:ln/>
        </p:spPr>
      </p:sp>
      <p:sp>
        <p:nvSpPr>
          <p:cNvPr id="28" name="Text 26"/>
          <p:cNvSpPr/>
          <p:nvPr/>
        </p:nvSpPr>
        <p:spPr>
          <a:xfrm>
            <a:off x="2743200" y="2148840"/>
            <a:ext cx="1645920" cy="502920"/>
          </a:xfrm>
          <a:prstGeom prst="rect">
            <a:avLst/>
          </a:prstGeom>
          <a:noFill/>
          <a:ln/>
        </p:spPr>
        <p:txBody>
          <a:bodyPr wrap="square" rtlCol="0" anchor="ctr"/>
          <a:lstStyle/>
          <a:p>
            <a:pPr algn="ctr" indent="0" marL="0">
              <a:buNone/>
            </a:pPr>
            <a:r>
              <a:rPr lang="en-US" sz="1200" b="1" dirty="0">
                <a:solidFill>
                  <a:srgbClr val="2C5F2D"/>
                </a:solidFill>
                <a:latin typeface="Calibri" pitchFamily="34" charset="0"/>
                <a:ea typeface="Calibri" pitchFamily="34" charset="-122"/>
                <a:cs typeface="Calibri" pitchFamily="34" charset="-120"/>
              </a:rPr>
              <a:t>0.98</a:t>
            </a:r>
            <a:endParaRPr lang="en-US" sz="1200" dirty="0"/>
          </a:p>
        </p:txBody>
      </p:sp>
      <p:sp>
        <p:nvSpPr>
          <p:cNvPr id="29" name="Shape 27"/>
          <p:cNvSpPr/>
          <p:nvPr/>
        </p:nvSpPr>
        <p:spPr>
          <a:xfrm>
            <a:off x="4389120" y="2148840"/>
            <a:ext cx="1645920" cy="502920"/>
          </a:xfrm>
          <a:prstGeom prst="rect">
            <a:avLst/>
          </a:prstGeom>
          <a:solidFill>
            <a:srgbClr val="FFFFFF"/>
          </a:solidFill>
          <a:ln/>
        </p:spPr>
      </p:sp>
      <p:sp>
        <p:nvSpPr>
          <p:cNvPr id="30" name="Text 28"/>
          <p:cNvSpPr/>
          <p:nvPr/>
        </p:nvSpPr>
        <p:spPr>
          <a:xfrm>
            <a:off x="4389120" y="2148840"/>
            <a:ext cx="1645920" cy="502920"/>
          </a:xfrm>
          <a:prstGeom prst="rect">
            <a:avLst/>
          </a:prstGeom>
          <a:noFill/>
          <a:ln/>
        </p:spPr>
        <p:txBody>
          <a:bodyPr wrap="square" rtlCol="0" anchor="ctr"/>
          <a:lstStyle/>
          <a:p>
            <a:pPr algn="ctr" indent="0" marL="0">
              <a:buNone/>
            </a:pPr>
            <a:r>
              <a:rPr lang="en-US" sz="1200" b="1" dirty="0">
                <a:solidFill>
                  <a:srgbClr val="2C5F2D"/>
                </a:solidFill>
                <a:latin typeface="Calibri" pitchFamily="34" charset="0"/>
                <a:ea typeface="Calibri" pitchFamily="34" charset="-122"/>
                <a:cs typeface="Calibri" pitchFamily="34" charset="-120"/>
              </a:rPr>
              <a:t>1.34</a:t>
            </a:r>
            <a:endParaRPr lang="en-US" sz="1200" dirty="0"/>
          </a:p>
        </p:txBody>
      </p:sp>
      <p:sp>
        <p:nvSpPr>
          <p:cNvPr id="31" name="Shape 29"/>
          <p:cNvSpPr/>
          <p:nvPr/>
        </p:nvSpPr>
        <p:spPr>
          <a:xfrm>
            <a:off x="6035040" y="2148840"/>
            <a:ext cx="1463040" cy="502920"/>
          </a:xfrm>
          <a:prstGeom prst="rect">
            <a:avLst/>
          </a:prstGeom>
          <a:solidFill>
            <a:srgbClr val="FFFFFF"/>
          </a:solidFill>
          <a:ln/>
        </p:spPr>
      </p:sp>
      <p:sp>
        <p:nvSpPr>
          <p:cNvPr id="32" name="Text 30"/>
          <p:cNvSpPr/>
          <p:nvPr/>
        </p:nvSpPr>
        <p:spPr>
          <a:xfrm>
            <a:off x="6035040" y="2148840"/>
            <a:ext cx="1463040" cy="502920"/>
          </a:xfrm>
          <a:prstGeom prst="rect">
            <a:avLst/>
          </a:prstGeom>
          <a:noFill/>
          <a:ln/>
        </p:spPr>
        <p:txBody>
          <a:bodyPr wrap="square" rtlCol="0" anchor="ctr"/>
          <a:lstStyle/>
          <a:p>
            <a:pPr algn="ctr" indent="0" marL="0">
              <a:buNone/>
            </a:pPr>
            <a:r>
              <a:rPr lang="en-US" sz="1200" b="1" dirty="0">
                <a:solidFill>
                  <a:srgbClr val="2C5F2D"/>
                </a:solidFill>
                <a:latin typeface="Calibri" pitchFamily="34" charset="0"/>
                <a:ea typeface="Calibri" pitchFamily="34" charset="-122"/>
                <a:cs typeface="Calibri" pitchFamily="34" charset="-120"/>
              </a:rPr>
              <a:t>0.985</a:t>
            </a:r>
            <a:endParaRPr lang="en-US" sz="1200" dirty="0"/>
          </a:p>
        </p:txBody>
      </p:sp>
      <p:sp>
        <p:nvSpPr>
          <p:cNvPr id="33" name="Shape 31"/>
          <p:cNvSpPr/>
          <p:nvPr/>
        </p:nvSpPr>
        <p:spPr>
          <a:xfrm>
            <a:off x="7498080" y="2148840"/>
            <a:ext cx="1188720" cy="502920"/>
          </a:xfrm>
          <a:prstGeom prst="rect">
            <a:avLst/>
          </a:prstGeom>
          <a:solidFill>
            <a:srgbClr val="FFFFFF"/>
          </a:solidFill>
          <a:ln/>
        </p:spPr>
      </p:sp>
      <p:sp>
        <p:nvSpPr>
          <p:cNvPr id="34" name="Text 32"/>
          <p:cNvSpPr/>
          <p:nvPr/>
        </p:nvSpPr>
        <p:spPr>
          <a:xfrm>
            <a:off x="7498080" y="2148840"/>
            <a:ext cx="1188720" cy="502920"/>
          </a:xfrm>
          <a:prstGeom prst="rect">
            <a:avLst/>
          </a:prstGeom>
          <a:noFill/>
          <a:ln/>
        </p:spPr>
        <p:txBody>
          <a:bodyPr wrap="square" rtlCol="0" anchor="ctr"/>
          <a:lstStyle/>
          <a:p>
            <a:pPr algn="ctr" indent="0" marL="0">
              <a:buNone/>
            </a:pPr>
            <a:r>
              <a:rPr lang="en-US" sz="1200" b="1" dirty="0">
                <a:solidFill>
                  <a:srgbClr val="2C5F2D"/>
                </a:solidFill>
                <a:latin typeface="Calibri" pitchFamily="34" charset="0"/>
                <a:ea typeface="Calibri" pitchFamily="34" charset="-122"/>
                <a:cs typeface="Calibri" pitchFamily="34" charset="-120"/>
              </a:rPr>
              <a:t>1st</a:t>
            </a:r>
            <a:endParaRPr lang="en-US" sz="1200" dirty="0"/>
          </a:p>
        </p:txBody>
      </p:sp>
      <p:sp>
        <p:nvSpPr>
          <p:cNvPr id="35" name="Shape 33"/>
          <p:cNvSpPr/>
          <p:nvPr/>
        </p:nvSpPr>
        <p:spPr>
          <a:xfrm>
            <a:off x="457200" y="2651760"/>
            <a:ext cx="2286000" cy="502920"/>
          </a:xfrm>
          <a:prstGeom prst="rect">
            <a:avLst/>
          </a:prstGeom>
          <a:solidFill>
            <a:srgbClr val="E8F0E3"/>
          </a:solidFill>
          <a:ln/>
        </p:spPr>
      </p:sp>
      <p:sp>
        <p:nvSpPr>
          <p:cNvPr id="36" name="Text 34"/>
          <p:cNvSpPr/>
          <p:nvPr/>
        </p:nvSpPr>
        <p:spPr>
          <a:xfrm>
            <a:off x="457200" y="2651760"/>
            <a:ext cx="2286000" cy="502920"/>
          </a:xfrm>
          <a:prstGeom prst="rect">
            <a:avLst/>
          </a:prstGeom>
          <a:noFill/>
          <a:ln/>
        </p:spPr>
        <p:txBody>
          <a:bodyPr wrap="square" rtlCol="0" anchor="ctr"/>
          <a:lstStyle/>
          <a:p>
            <a:pPr algn="ctr" indent="0" marL="0">
              <a:buNone/>
            </a:pPr>
            <a:r>
              <a:rPr lang="en-US" sz="1200" dirty="0">
                <a:solidFill>
                  <a:srgbClr val="2D2D2D"/>
                </a:solidFill>
                <a:latin typeface="Calibri" pitchFamily="34" charset="0"/>
                <a:ea typeface="Calibri" pitchFamily="34" charset="-122"/>
                <a:cs typeface="Calibri" pitchFamily="34" charset="-120"/>
              </a:rPr>
              <a:t>Gradient Boosting</a:t>
            </a:r>
            <a:endParaRPr lang="en-US" sz="1200" dirty="0"/>
          </a:p>
        </p:txBody>
      </p:sp>
      <p:sp>
        <p:nvSpPr>
          <p:cNvPr id="37" name="Shape 35"/>
          <p:cNvSpPr/>
          <p:nvPr/>
        </p:nvSpPr>
        <p:spPr>
          <a:xfrm>
            <a:off x="2743200" y="2651760"/>
            <a:ext cx="1645920" cy="502920"/>
          </a:xfrm>
          <a:prstGeom prst="rect">
            <a:avLst/>
          </a:prstGeom>
          <a:solidFill>
            <a:srgbClr val="E8F0E3"/>
          </a:solidFill>
          <a:ln/>
        </p:spPr>
      </p:sp>
      <p:sp>
        <p:nvSpPr>
          <p:cNvPr id="38" name="Text 36"/>
          <p:cNvSpPr/>
          <p:nvPr/>
        </p:nvSpPr>
        <p:spPr>
          <a:xfrm>
            <a:off x="2743200" y="2651760"/>
            <a:ext cx="1645920" cy="502920"/>
          </a:xfrm>
          <a:prstGeom prst="rect">
            <a:avLst/>
          </a:prstGeom>
          <a:noFill/>
          <a:ln/>
        </p:spPr>
        <p:txBody>
          <a:bodyPr wrap="square" rtlCol="0" anchor="ctr"/>
          <a:lstStyle/>
          <a:p>
            <a:pPr algn="ctr" indent="0" marL="0">
              <a:buNone/>
            </a:pPr>
            <a:r>
              <a:rPr lang="en-US" sz="1200" dirty="0">
                <a:solidFill>
                  <a:srgbClr val="2D2D2D"/>
                </a:solidFill>
                <a:latin typeface="Calibri" pitchFamily="34" charset="0"/>
                <a:ea typeface="Calibri" pitchFamily="34" charset="-122"/>
                <a:cs typeface="Calibri" pitchFamily="34" charset="-120"/>
              </a:rPr>
              <a:t>1.12</a:t>
            </a:r>
            <a:endParaRPr lang="en-US" sz="1200" dirty="0"/>
          </a:p>
        </p:txBody>
      </p:sp>
      <p:sp>
        <p:nvSpPr>
          <p:cNvPr id="39" name="Shape 37"/>
          <p:cNvSpPr/>
          <p:nvPr/>
        </p:nvSpPr>
        <p:spPr>
          <a:xfrm>
            <a:off x="4389120" y="2651760"/>
            <a:ext cx="1645920" cy="502920"/>
          </a:xfrm>
          <a:prstGeom prst="rect">
            <a:avLst/>
          </a:prstGeom>
          <a:solidFill>
            <a:srgbClr val="E8F0E3"/>
          </a:solidFill>
          <a:ln/>
        </p:spPr>
      </p:sp>
      <p:sp>
        <p:nvSpPr>
          <p:cNvPr id="40" name="Text 38"/>
          <p:cNvSpPr/>
          <p:nvPr/>
        </p:nvSpPr>
        <p:spPr>
          <a:xfrm>
            <a:off x="4389120" y="2651760"/>
            <a:ext cx="1645920" cy="502920"/>
          </a:xfrm>
          <a:prstGeom prst="rect">
            <a:avLst/>
          </a:prstGeom>
          <a:noFill/>
          <a:ln/>
        </p:spPr>
        <p:txBody>
          <a:bodyPr wrap="square" rtlCol="0" anchor="ctr"/>
          <a:lstStyle/>
          <a:p>
            <a:pPr algn="ctr" indent="0" marL="0">
              <a:buNone/>
            </a:pPr>
            <a:r>
              <a:rPr lang="en-US" sz="1200" dirty="0">
                <a:solidFill>
                  <a:srgbClr val="2D2D2D"/>
                </a:solidFill>
                <a:latin typeface="Calibri" pitchFamily="34" charset="0"/>
                <a:ea typeface="Calibri" pitchFamily="34" charset="-122"/>
                <a:cs typeface="Calibri" pitchFamily="34" charset="-120"/>
              </a:rPr>
              <a:t>1.56</a:t>
            </a:r>
            <a:endParaRPr lang="en-US" sz="1200" dirty="0"/>
          </a:p>
        </p:txBody>
      </p:sp>
      <p:sp>
        <p:nvSpPr>
          <p:cNvPr id="41" name="Shape 39"/>
          <p:cNvSpPr/>
          <p:nvPr/>
        </p:nvSpPr>
        <p:spPr>
          <a:xfrm>
            <a:off x="6035040" y="2651760"/>
            <a:ext cx="1463040" cy="502920"/>
          </a:xfrm>
          <a:prstGeom prst="rect">
            <a:avLst/>
          </a:prstGeom>
          <a:solidFill>
            <a:srgbClr val="E8F0E3"/>
          </a:solidFill>
          <a:ln/>
        </p:spPr>
      </p:sp>
      <p:sp>
        <p:nvSpPr>
          <p:cNvPr id="42" name="Text 40"/>
          <p:cNvSpPr/>
          <p:nvPr/>
        </p:nvSpPr>
        <p:spPr>
          <a:xfrm>
            <a:off x="6035040" y="2651760"/>
            <a:ext cx="1463040" cy="502920"/>
          </a:xfrm>
          <a:prstGeom prst="rect">
            <a:avLst/>
          </a:prstGeom>
          <a:noFill/>
          <a:ln/>
        </p:spPr>
        <p:txBody>
          <a:bodyPr wrap="square" rtlCol="0" anchor="ctr"/>
          <a:lstStyle/>
          <a:p>
            <a:pPr algn="ctr" indent="0" marL="0">
              <a:buNone/>
            </a:pPr>
            <a:r>
              <a:rPr lang="en-US" sz="1200" dirty="0">
                <a:solidFill>
                  <a:srgbClr val="2D2D2D"/>
                </a:solidFill>
                <a:latin typeface="Calibri" pitchFamily="34" charset="0"/>
                <a:ea typeface="Calibri" pitchFamily="34" charset="-122"/>
                <a:cs typeface="Calibri" pitchFamily="34" charset="-120"/>
              </a:rPr>
              <a:t>0.980</a:t>
            </a:r>
            <a:endParaRPr lang="en-US" sz="1200" dirty="0"/>
          </a:p>
        </p:txBody>
      </p:sp>
      <p:sp>
        <p:nvSpPr>
          <p:cNvPr id="43" name="Shape 41"/>
          <p:cNvSpPr/>
          <p:nvPr/>
        </p:nvSpPr>
        <p:spPr>
          <a:xfrm>
            <a:off x="7498080" y="2651760"/>
            <a:ext cx="1188720" cy="502920"/>
          </a:xfrm>
          <a:prstGeom prst="rect">
            <a:avLst/>
          </a:prstGeom>
          <a:solidFill>
            <a:srgbClr val="E8F0E3"/>
          </a:solidFill>
          <a:ln/>
        </p:spPr>
      </p:sp>
      <p:sp>
        <p:nvSpPr>
          <p:cNvPr id="44" name="Text 42"/>
          <p:cNvSpPr/>
          <p:nvPr/>
        </p:nvSpPr>
        <p:spPr>
          <a:xfrm>
            <a:off x="7498080" y="2651760"/>
            <a:ext cx="1188720" cy="502920"/>
          </a:xfrm>
          <a:prstGeom prst="rect">
            <a:avLst/>
          </a:prstGeom>
          <a:noFill/>
          <a:ln/>
        </p:spPr>
        <p:txBody>
          <a:bodyPr wrap="square" rtlCol="0" anchor="ctr"/>
          <a:lstStyle/>
          <a:p>
            <a:pPr algn="ctr" indent="0" marL="0">
              <a:buNone/>
            </a:pPr>
            <a:r>
              <a:rPr lang="en-US" sz="1200" dirty="0">
                <a:solidFill>
                  <a:srgbClr val="2D2D2D"/>
                </a:solidFill>
                <a:latin typeface="Calibri" pitchFamily="34" charset="0"/>
                <a:ea typeface="Calibri" pitchFamily="34" charset="-122"/>
                <a:cs typeface="Calibri" pitchFamily="34" charset="-120"/>
              </a:rPr>
              <a:t>2nd</a:t>
            </a:r>
            <a:endParaRPr lang="en-US" sz="1200" dirty="0"/>
          </a:p>
        </p:txBody>
      </p:sp>
      <p:sp>
        <p:nvSpPr>
          <p:cNvPr id="45" name="Shape 43"/>
          <p:cNvSpPr/>
          <p:nvPr/>
        </p:nvSpPr>
        <p:spPr>
          <a:xfrm>
            <a:off x="457200" y="3154680"/>
            <a:ext cx="2286000" cy="502920"/>
          </a:xfrm>
          <a:prstGeom prst="rect">
            <a:avLst/>
          </a:prstGeom>
          <a:solidFill>
            <a:srgbClr val="FFFFFF"/>
          </a:solidFill>
          <a:ln/>
        </p:spPr>
      </p:sp>
      <p:sp>
        <p:nvSpPr>
          <p:cNvPr id="46" name="Text 44"/>
          <p:cNvSpPr/>
          <p:nvPr/>
        </p:nvSpPr>
        <p:spPr>
          <a:xfrm>
            <a:off x="457200" y="3154680"/>
            <a:ext cx="2286000" cy="502920"/>
          </a:xfrm>
          <a:prstGeom prst="rect">
            <a:avLst/>
          </a:prstGeom>
          <a:noFill/>
          <a:ln/>
        </p:spPr>
        <p:txBody>
          <a:bodyPr wrap="square" rtlCol="0" anchor="ctr"/>
          <a:lstStyle/>
          <a:p>
            <a:pPr algn="ctr" indent="0" marL="0">
              <a:buNone/>
            </a:pPr>
            <a:r>
              <a:rPr lang="en-US" sz="1200" dirty="0">
                <a:solidFill>
                  <a:srgbClr val="2D2D2D"/>
                </a:solidFill>
                <a:latin typeface="Calibri" pitchFamily="34" charset="0"/>
                <a:ea typeface="Calibri" pitchFamily="34" charset="-122"/>
                <a:cs typeface="Calibri" pitchFamily="34" charset="-120"/>
              </a:rPr>
              <a:t>SVR (RBF Kernel)</a:t>
            </a:r>
            <a:endParaRPr lang="en-US" sz="1200" dirty="0"/>
          </a:p>
        </p:txBody>
      </p:sp>
      <p:sp>
        <p:nvSpPr>
          <p:cNvPr id="47" name="Shape 45"/>
          <p:cNvSpPr/>
          <p:nvPr/>
        </p:nvSpPr>
        <p:spPr>
          <a:xfrm>
            <a:off x="2743200" y="3154680"/>
            <a:ext cx="1645920" cy="502920"/>
          </a:xfrm>
          <a:prstGeom prst="rect">
            <a:avLst/>
          </a:prstGeom>
          <a:solidFill>
            <a:srgbClr val="FFFFFF"/>
          </a:solidFill>
          <a:ln/>
        </p:spPr>
      </p:sp>
      <p:sp>
        <p:nvSpPr>
          <p:cNvPr id="48" name="Text 46"/>
          <p:cNvSpPr/>
          <p:nvPr/>
        </p:nvSpPr>
        <p:spPr>
          <a:xfrm>
            <a:off x="2743200" y="3154680"/>
            <a:ext cx="1645920" cy="502920"/>
          </a:xfrm>
          <a:prstGeom prst="rect">
            <a:avLst/>
          </a:prstGeom>
          <a:noFill/>
          <a:ln/>
        </p:spPr>
        <p:txBody>
          <a:bodyPr wrap="square" rtlCol="0" anchor="ctr"/>
          <a:lstStyle/>
          <a:p>
            <a:pPr algn="ctr" indent="0" marL="0">
              <a:buNone/>
            </a:pPr>
            <a:r>
              <a:rPr lang="en-US" sz="1200" dirty="0">
                <a:solidFill>
                  <a:srgbClr val="2D2D2D"/>
                </a:solidFill>
                <a:latin typeface="Calibri" pitchFamily="34" charset="0"/>
                <a:ea typeface="Calibri" pitchFamily="34" charset="-122"/>
                <a:cs typeface="Calibri" pitchFamily="34" charset="-120"/>
              </a:rPr>
              <a:t>2.45</a:t>
            </a:r>
            <a:endParaRPr lang="en-US" sz="1200" dirty="0"/>
          </a:p>
        </p:txBody>
      </p:sp>
      <p:sp>
        <p:nvSpPr>
          <p:cNvPr id="49" name="Shape 47"/>
          <p:cNvSpPr/>
          <p:nvPr/>
        </p:nvSpPr>
        <p:spPr>
          <a:xfrm>
            <a:off x="4389120" y="3154680"/>
            <a:ext cx="1645920" cy="502920"/>
          </a:xfrm>
          <a:prstGeom prst="rect">
            <a:avLst/>
          </a:prstGeom>
          <a:solidFill>
            <a:srgbClr val="FFFFFF"/>
          </a:solidFill>
          <a:ln/>
        </p:spPr>
      </p:sp>
      <p:sp>
        <p:nvSpPr>
          <p:cNvPr id="50" name="Text 48"/>
          <p:cNvSpPr/>
          <p:nvPr/>
        </p:nvSpPr>
        <p:spPr>
          <a:xfrm>
            <a:off x="4389120" y="3154680"/>
            <a:ext cx="1645920" cy="502920"/>
          </a:xfrm>
          <a:prstGeom prst="rect">
            <a:avLst/>
          </a:prstGeom>
          <a:noFill/>
          <a:ln/>
        </p:spPr>
        <p:txBody>
          <a:bodyPr wrap="square" rtlCol="0" anchor="ctr"/>
          <a:lstStyle/>
          <a:p>
            <a:pPr algn="ctr" indent="0" marL="0">
              <a:buNone/>
            </a:pPr>
            <a:r>
              <a:rPr lang="en-US" sz="1200" dirty="0">
                <a:solidFill>
                  <a:srgbClr val="2D2D2D"/>
                </a:solidFill>
                <a:latin typeface="Calibri" pitchFamily="34" charset="0"/>
                <a:ea typeface="Calibri" pitchFamily="34" charset="-122"/>
                <a:cs typeface="Calibri" pitchFamily="34" charset="-120"/>
              </a:rPr>
              <a:t>3.21</a:t>
            </a:r>
            <a:endParaRPr lang="en-US" sz="1200" dirty="0"/>
          </a:p>
        </p:txBody>
      </p:sp>
      <p:sp>
        <p:nvSpPr>
          <p:cNvPr id="51" name="Shape 49"/>
          <p:cNvSpPr/>
          <p:nvPr/>
        </p:nvSpPr>
        <p:spPr>
          <a:xfrm>
            <a:off x="6035040" y="3154680"/>
            <a:ext cx="1463040" cy="502920"/>
          </a:xfrm>
          <a:prstGeom prst="rect">
            <a:avLst/>
          </a:prstGeom>
          <a:solidFill>
            <a:srgbClr val="FFFFFF"/>
          </a:solidFill>
          <a:ln/>
        </p:spPr>
      </p:sp>
      <p:sp>
        <p:nvSpPr>
          <p:cNvPr id="52" name="Text 50"/>
          <p:cNvSpPr/>
          <p:nvPr/>
        </p:nvSpPr>
        <p:spPr>
          <a:xfrm>
            <a:off x="6035040" y="3154680"/>
            <a:ext cx="1463040" cy="502920"/>
          </a:xfrm>
          <a:prstGeom prst="rect">
            <a:avLst/>
          </a:prstGeom>
          <a:noFill/>
          <a:ln/>
        </p:spPr>
        <p:txBody>
          <a:bodyPr wrap="square" rtlCol="0" anchor="ctr"/>
          <a:lstStyle/>
          <a:p>
            <a:pPr algn="ctr" indent="0" marL="0">
              <a:buNone/>
            </a:pPr>
            <a:r>
              <a:rPr lang="en-US" sz="1200" dirty="0">
                <a:solidFill>
                  <a:srgbClr val="2D2D2D"/>
                </a:solidFill>
                <a:latin typeface="Calibri" pitchFamily="34" charset="0"/>
                <a:ea typeface="Calibri" pitchFamily="34" charset="-122"/>
                <a:cs typeface="Calibri" pitchFamily="34" charset="-120"/>
              </a:rPr>
              <a:t>0.917</a:t>
            </a:r>
            <a:endParaRPr lang="en-US" sz="1200" dirty="0"/>
          </a:p>
        </p:txBody>
      </p:sp>
      <p:sp>
        <p:nvSpPr>
          <p:cNvPr id="53" name="Shape 51"/>
          <p:cNvSpPr/>
          <p:nvPr/>
        </p:nvSpPr>
        <p:spPr>
          <a:xfrm>
            <a:off x="7498080" y="3154680"/>
            <a:ext cx="1188720" cy="502920"/>
          </a:xfrm>
          <a:prstGeom prst="rect">
            <a:avLst/>
          </a:prstGeom>
          <a:solidFill>
            <a:srgbClr val="FFFFFF"/>
          </a:solidFill>
          <a:ln/>
        </p:spPr>
      </p:sp>
      <p:sp>
        <p:nvSpPr>
          <p:cNvPr id="54" name="Text 52"/>
          <p:cNvSpPr/>
          <p:nvPr/>
        </p:nvSpPr>
        <p:spPr>
          <a:xfrm>
            <a:off x="7498080" y="3154680"/>
            <a:ext cx="1188720" cy="502920"/>
          </a:xfrm>
          <a:prstGeom prst="rect">
            <a:avLst/>
          </a:prstGeom>
          <a:noFill/>
          <a:ln/>
        </p:spPr>
        <p:txBody>
          <a:bodyPr wrap="square" rtlCol="0" anchor="ctr"/>
          <a:lstStyle/>
          <a:p>
            <a:pPr algn="ctr" indent="0" marL="0">
              <a:buNone/>
            </a:pPr>
            <a:r>
              <a:rPr lang="en-US" sz="1200" dirty="0">
                <a:solidFill>
                  <a:srgbClr val="2D2D2D"/>
                </a:solidFill>
                <a:latin typeface="Calibri" pitchFamily="34" charset="0"/>
                <a:ea typeface="Calibri" pitchFamily="34" charset="-122"/>
                <a:cs typeface="Calibri" pitchFamily="34" charset="-120"/>
              </a:rPr>
              <a:t>3rd</a:t>
            </a:r>
            <a:endParaRPr lang="en-US" sz="1200" dirty="0"/>
          </a:p>
        </p:txBody>
      </p:sp>
      <p:sp>
        <p:nvSpPr>
          <p:cNvPr id="55" name="Text 53"/>
          <p:cNvSpPr/>
          <p:nvPr/>
        </p:nvSpPr>
        <p:spPr>
          <a:xfrm>
            <a:off x="457200" y="3840480"/>
            <a:ext cx="8229600" cy="365760"/>
          </a:xfrm>
          <a:prstGeom prst="rect">
            <a:avLst/>
          </a:prstGeom>
          <a:noFill/>
          <a:ln/>
        </p:spPr>
        <p:txBody>
          <a:bodyPr wrap="square" rtlCol="0" anchor="ctr"/>
          <a:lstStyle/>
          <a:p>
            <a:pPr algn="ctr" indent="0" marL="0">
              <a:buNone/>
            </a:pPr>
            <a:r>
              <a:rPr lang="en-US" sz="1400" b="1" dirty="0">
                <a:solidFill>
                  <a:srgbClr val="2C5F2D"/>
                </a:solidFill>
                <a:latin typeface="Calibri" pitchFamily="34" charset="0"/>
                <a:ea typeface="Calibri" pitchFamily="34" charset="-122"/>
                <a:cs typeface="Calibri" pitchFamily="34" charset="-120"/>
              </a:rPr>
              <a:t>Random Forest achieves the best performance with R² = 0.985</a:t>
            </a:r>
            <a:endParaRPr lang="en-US" sz="1400" dirty="0"/>
          </a:p>
        </p:txBody>
      </p:sp>
      <p:sp>
        <p:nvSpPr>
          <p:cNvPr id="56" name="Text 54"/>
          <p:cNvSpPr/>
          <p:nvPr/>
        </p:nvSpPr>
        <p:spPr>
          <a:xfrm>
            <a:off x="8046720" y="4754880"/>
            <a:ext cx="914400" cy="274320"/>
          </a:xfrm>
          <a:prstGeom prst="rect">
            <a:avLst/>
          </a:prstGeom>
          <a:noFill/>
          <a:ln/>
        </p:spPr>
        <p:txBody>
          <a:bodyPr wrap="square" rtlCol="0" anchor="ctr"/>
          <a:lstStyle/>
          <a:p>
            <a:pPr algn="r" indent="0" marL="0">
              <a:buNone/>
            </a:pPr>
            <a:r>
              <a:rPr lang="en-US" sz="1000" dirty="0">
                <a:solidFill>
                  <a:srgbClr val="6B7B6E"/>
                </a:solidFill>
              </a:rPr>
              <a:t>9 / 12</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3A2D"/>
        </a:solidFill>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rtlCol="0" anchor="ctr"/>
          <a:lstStyle/>
          <a:p>
            <a:pPr indent="0" marL="0">
              <a:buNone/>
            </a:pPr>
            <a:r>
              <a:rPr lang="en-US" sz="3200" b="1" dirty="0">
                <a:solidFill>
                  <a:srgbClr val="97BC62"/>
                </a:solidFill>
                <a:latin typeface="Georgia" pitchFamily="34" charset="0"/>
                <a:ea typeface="Georgia" pitchFamily="34" charset="-122"/>
                <a:cs typeface="Georgia" pitchFamily="34" charset="-120"/>
              </a:rPr>
              <a:t>RESULTS &amp; ACCURACY</a:t>
            </a:r>
            <a:endParaRPr lang="en-US" sz="3200" dirty="0"/>
          </a:p>
        </p:txBody>
      </p:sp>
      <p:sp>
        <p:nvSpPr>
          <p:cNvPr id="3" name="Shape 1"/>
          <p:cNvSpPr/>
          <p:nvPr/>
        </p:nvSpPr>
        <p:spPr>
          <a:xfrm>
            <a:off x="457200" y="914400"/>
            <a:ext cx="1828800" cy="0"/>
          </a:xfrm>
          <a:prstGeom prst="line">
            <a:avLst/>
          </a:prstGeom>
          <a:noFill/>
          <a:ln w="38100">
            <a:solidFill>
              <a:srgbClr val="97BC62"/>
            </a:solidFill>
            <a:prstDash val="solid"/>
          </a:ln>
        </p:spPr>
      </p:sp>
      <p:sp>
        <p:nvSpPr>
          <p:cNvPr id="4" name="Shape 2"/>
          <p:cNvSpPr/>
          <p:nvPr/>
        </p:nvSpPr>
        <p:spPr>
          <a:xfrm>
            <a:off x="457200" y="1188720"/>
            <a:ext cx="2651760" cy="1828800"/>
          </a:xfrm>
          <a:prstGeom prst="roundRect">
            <a:avLst>
              <a:gd name="adj" fmla="val 5000"/>
            </a:avLst>
          </a:prstGeom>
          <a:solidFill>
            <a:srgbClr val="2C5F2D"/>
          </a:solidFill>
          <a:ln/>
        </p:spPr>
      </p:sp>
      <p:sp>
        <p:nvSpPr>
          <p:cNvPr id="5" name="Text 3"/>
          <p:cNvSpPr/>
          <p:nvPr/>
        </p:nvSpPr>
        <p:spPr>
          <a:xfrm>
            <a:off x="457200" y="1280160"/>
            <a:ext cx="2651760" cy="914400"/>
          </a:xfrm>
          <a:prstGeom prst="rect">
            <a:avLst/>
          </a:prstGeom>
          <a:noFill/>
          <a:ln/>
        </p:spPr>
        <p:txBody>
          <a:bodyPr wrap="square" rtlCol="0" anchor="ctr"/>
          <a:lstStyle/>
          <a:p>
            <a:pPr algn="ctr" indent="0" marL="0">
              <a:buNone/>
            </a:pPr>
            <a:r>
              <a:rPr lang="en-US" sz="3600" b="1" dirty="0">
                <a:solidFill>
                  <a:srgbClr val="97BC62"/>
                </a:solidFill>
                <a:latin typeface="Georgia" pitchFamily="34" charset="0"/>
                <a:ea typeface="Georgia" pitchFamily="34" charset="-122"/>
                <a:cs typeface="Georgia" pitchFamily="34" charset="-120"/>
              </a:rPr>
              <a:t>98.5%</a:t>
            </a:r>
            <a:endParaRPr lang="en-US" sz="3600" dirty="0"/>
          </a:p>
        </p:txBody>
      </p:sp>
      <p:sp>
        <p:nvSpPr>
          <p:cNvPr id="6" name="Text 4"/>
          <p:cNvSpPr/>
          <p:nvPr/>
        </p:nvSpPr>
        <p:spPr>
          <a:xfrm>
            <a:off x="457200" y="2194560"/>
            <a:ext cx="2651760" cy="640080"/>
          </a:xfrm>
          <a:prstGeom prst="rect">
            <a:avLst/>
          </a:prstGeom>
          <a:noFill/>
          <a:ln/>
        </p:spPr>
        <p:txBody>
          <a:bodyPr wrap="square" rtlCol="0" anchor="t"/>
          <a:lstStyle/>
          <a:p>
            <a:pPr algn="ctr" indent="0" marL="0">
              <a:buNone/>
            </a:pPr>
            <a:r>
              <a:rPr lang="en-US" sz="1200" dirty="0">
                <a:solidFill>
                  <a:srgbClr val="6B7B6E"/>
                </a:solidFill>
                <a:latin typeface="Calibri" pitchFamily="34" charset="0"/>
                <a:ea typeface="Calibri" pitchFamily="34" charset="-122"/>
                <a:cs typeface="Calibri" pitchFamily="34" charset="-120"/>
              </a:rPr>
              <a:t>R² Score</a:t>
            </a:r>
            <a:endParaRPr lang="en-US" sz="1200" dirty="0"/>
          </a:p>
          <a:p>
            <a:pPr algn="ctr" indent="0" marL="0">
              <a:buNone/>
            </a:pPr>
            <a:r>
              <a:rPr lang="en-US" sz="1200" dirty="0">
                <a:solidFill>
                  <a:srgbClr val="6B7B6E"/>
                </a:solidFill>
                <a:latin typeface="Calibri" pitchFamily="34" charset="0"/>
                <a:ea typeface="Calibri" pitchFamily="34" charset="-122"/>
                <a:cs typeface="Calibri" pitchFamily="34" charset="-120"/>
              </a:rPr>
              <a:t>(Random Forest)</a:t>
            </a:r>
            <a:endParaRPr lang="en-US" sz="1200" dirty="0"/>
          </a:p>
        </p:txBody>
      </p:sp>
      <p:sp>
        <p:nvSpPr>
          <p:cNvPr id="7" name="Shape 5"/>
          <p:cNvSpPr/>
          <p:nvPr/>
        </p:nvSpPr>
        <p:spPr>
          <a:xfrm>
            <a:off x="3337560" y="1188720"/>
            <a:ext cx="2651760" cy="1828800"/>
          </a:xfrm>
          <a:prstGeom prst="roundRect">
            <a:avLst>
              <a:gd name="adj" fmla="val 5000"/>
            </a:avLst>
          </a:prstGeom>
          <a:solidFill>
            <a:srgbClr val="2C5F2D"/>
          </a:solidFill>
          <a:ln/>
        </p:spPr>
      </p:sp>
      <p:sp>
        <p:nvSpPr>
          <p:cNvPr id="8" name="Text 6"/>
          <p:cNvSpPr/>
          <p:nvPr/>
        </p:nvSpPr>
        <p:spPr>
          <a:xfrm>
            <a:off x="3337560" y="1280160"/>
            <a:ext cx="2651760" cy="914400"/>
          </a:xfrm>
          <a:prstGeom prst="rect">
            <a:avLst/>
          </a:prstGeom>
          <a:noFill/>
          <a:ln/>
        </p:spPr>
        <p:txBody>
          <a:bodyPr wrap="square" rtlCol="0" anchor="ctr"/>
          <a:lstStyle/>
          <a:p>
            <a:pPr algn="ctr" indent="0" marL="0">
              <a:buNone/>
            </a:pPr>
            <a:r>
              <a:rPr lang="en-US" sz="3600" b="1" dirty="0">
                <a:solidFill>
                  <a:srgbClr val="D4A843"/>
                </a:solidFill>
                <a:latin typeface="Georgia" pitchFamily="34" charset="0"/>
                <a:ea typeface="Georgia" pitchFamily="34" charset="-122"/>
                <a:cs typeface="Georgia" pitchFamily="34" charset="-120"/>
              </a:rPr>
              <a:t>0.98</a:t>
            </a:r>
            <a:endParaRPr lang="en-US" sz="3600" dirty="0"/>
          </a:p>
        </p:txBody>
      </p:sp>
      <p:sp>
        <p:nvSpPr>
          <p:cNvPr id="9" name="Text 7"/>
          <p:cNvSpPr/>
          <p:nvPr/>
        </p:nvSpPr>
        <p:spPr>
          <a:xfrm>
            <a:off x="3337560" y="2194560"/>
            <a:ext cx="2651760" cy="640080"/>
          </a:xfrm>
          <a:prstGeom prst="rect">
            <a:avLst/>
          </a:prstGeom>
          <a:noFill/>
          <a:ln/>
        </p:spPr>
        <p:txBody>
          <a:bodyPr wrap="square" rtlCol="0" anchor="t"/>
          <a:lstStyle/>
          <a:p>
            <a:pPr algn="ctr" indent="0" marL="0">
              <a:buNone/>
            </a:pPr>
            <a:r>
              <a:rPr lang="en-US" sz="1200" dirty="0">
                <a:solidFill>
                  <a:srgbClr val="6B7B6E"/>
                </a:solidFill>
                <a:latin typeface="Calibri" pitchFamily="34" charset="0"/>
                <a:ea typeface="Calibri" pitchFamily="34" charset="-122"/>
                <a:cs typeface="Calibri" pitchFamily="34" charset="-120"/>
              </a:rPr>
              <a:t>MAE</a:t>
            </a:r>
            <a:endParaRPr lang="en-US" sz="1200" dirty="0"/>
          </a:p>
          <a:p>
            <a:pPr algn="ctr" indent="0" marL="0">
              <a:buNone/>
            </a:pPr>
            <a:r>
              <a:rPr lang="en-US" sz="1200" dirty="0">
                <a:solidFill>
                  <a:srgbClr val="6B7B6E"/>
                </a:solidFill>
                <a:latin typeface="Calibri" pitchFamily="34" charset="0"/>
                <a:ea typeface="Calibri" pitchFamily="34" charset="-122"/>
                <a:cs typeface="Calibri" pitchFamily="34" charset="-120"/>
              </a:rPr>
              <a:t>(Best Model)</a:t>
            </a:r>
            <a:endParaRPr lang="en-US" sz="1200" dirty="0"/>
          </a:p>
        </p:txBody>
      </p:sp>
      <p:sp>
        <p:nvSpPr>
          <p:cNvPr id="10" name="Shape 8"/>
          <p:cNvSpPr/>
          <p:nvPr/>
        </p:nvSpPr>
        <p:spPr>
          <a:xfrm>
            <a:off x="6217920" y="1188720"/>
            <a:ext cx="2651760" cy="1828800"/>
          </a:xfrm>
          <a:prstGeom prst="roundRect">
            <a:avLst>
              <a:gd name="adj" fmla="val 5000"/>
            </a:avLst>
          </a:prstGeom>
          <a:solidFill>
            <a:srgbClr val="2C5F2D"/>
          </a:solidFill>
          <a:ln/>
        </p:spPr>
      </p:sp>
      <p:sp>
        <p:nvSpPr>
          <p:cNvPr id="11" name="Text 9"/>
          <p:cNvSpPr/>
          <p:nvPr/>
        </p:nvSpPr>
        <p:spPr>
          <a:xfrm>
            <a:off x="6217920" y="1280160"/>
            <a:ext cx="2651760" cy="914400"/>
          </a:xfrm>
          <a:prstGeom prst="rect">
            <a:avLst/>
          </a:prstGeom>
          <a:noFill/>
          <a:ln/>
        </p:spPr>
        <p:txBody>
          <a:bodyPr wrap="square" rtlCol="0" anchor="ctr"/>
          <a:lstStyle/>
          <a:p>
            <a:pPr algn="ctr" indent="0" marL="0">
              <a:buNone/>
            </a:pPr>
            <a:r>
              <a:rPr lang="en-US" sz="3600" b="1" dirty="0">
                <a:solidFill>
                  <a:srgbClr val="FFFFFF"/>
                </a:solidFill>
                <a:latin typeface="Georgia" pitchFamily="34" charset="0"/>
                <a:ea typeface="Georgia" pitchFamily="34" charset="-122"/>
                <a:cs typeface="Georgia" pitchFamily="34" charset="-120"/>
              </a:rPr>
              <a:t>1.34</a:t>
            </a:r>
            <a:endParaRPr lang="en-US" sz="3600" dirty="0"/>
          </a:p>
        </p:txBody>
      </p:sp>
      <p:sp>
        <p:nvSpPr>
          <p:cNvPr id="12" name="Text 10"/>
          <p:cNvSpPr/>
          <p:nvPr/>
        </p:nvSpPr>
        <p:spPr>
          <a:xfrm>
            <a:off x="6217920" y="2194560"/>
            <a:ext cx="2651760" cy="640080"/>
          </a:xfrm>
          <a:prstGeom prst="rect">
            <a:avLst/>
          </a:prstGeom>
          <a:noFill/>
          <a:ln/>
        </p:spPr>
        <p:txBody>
          <a:bodyPr wrap="square" rtlCol="0" anchor="t"/>
          <a:lstStyle/>
          <a:p>
            <a:pPr algn="ctr" indent="0" marL="0">
              <a:buNone/>
            </a:pPr>
            <a:r>
              <a:rPr lang="en-US" sz="1200" dirty="0">
                <a:solidFill>
                  <a:srgbClr val="6B7B6E"/>
                </a:solidFill>
                <a:latin typeface="Calibri" pitchFamily="34" charset="0"/>
                <a:ea typeface="Calibri" pitchFamily="34" charset="-122"/>
                <a:cs typeface="Calibri" pitchFamily="34" charset="-120"/>
              </a:rPr>
              <a:t>RMSE</a:t>
            </a:r>
            <a:endParaRPr lang="en-US" sz="1200" dirty="0"/>
          </a:p>
          <a:p>
            <a:pPr algn="ctr" indent="0" marL="0">
              <a:buNone/>
            </a:pPr>
            <a:r>
              <a:rPr lang="en-US" sz="1200" dirty="0">
                <a:solidFill>
                  <a:srgbClr val="6B7B6E"/>
                </a:solidFill>
                <a:latin typeface="Calibri" pitchFamily="34" charset="0"/>
                <a:ea typeface="Calibri" pitchFamily="34" charset="-122"/>
                <a:cs typeface="Calibri" pitchFamily="34" charset="-120"/>
              </a:rPr>
              <a:t>(Best Model)</a:t>
            </a:r>
            <a:endParaRPr lang="en-US" sz="1200" dirty="0"/>
          </a:p>
        </p:txBody>
      </p:sp>
      <p:sp>
        <p:nvSpPr>
          <p:cNvPr id="13" name="Text 11"/>
          <p:cNvSpPr/>
          <p:nvPr/>
        </p:nvSpPr>
        <p:spPr>
          <a:xfrm>
            <a:off x="457200" y="3291840"/>
            <a:ext cx="8229600" cy="320040"/>
          </a:xfrm>
          <a:prstGeom prst="rect">
            <a:avLst/>
          </a:prstGeom>
          <a:noFill/>
          <a:ln/>
        </p:spPr>
        <p:txBody>
          <a:bodyPr wrap="square" rtlCol="0" anchor="ctr"/>
          <a:lstStyle/>
          <a:p>
            <a:pPr indent="0" marL="0">
              <a:buNone/>
            </a:pPr>
            <a:r>
              <a:rPr lang="en-US" sz="1600" b="1" dirty="0">
                <a:solidFill>
                  <a:srgbClr val="97BC62"/>
                </a:solidFill>
                <a:latin typeface="Georgia" pitchFamily="34" charset="0"/>
                <a:ea typeface="Georgia" pitchFamily="34" charset="-122"/>
                <a:cs typeface="Georgia" pitchFamily="34" charset="-120"/>
              </a:rPr>
              <a:t>Key Findings</a:t>
            </a:r>
            <a:endParaRPr lang="en-US" sz="1600" dirty="0"/>
          </a:p>
        </p:txBody>
      </p:sp>
      <p:sp>
        <p:nvSpPr>
          <p:cNvPr id="14" name="Text 12"/>
          <p:cNvSpPr/>
          <p:nvPr/>
        </p:nvSpPr>
        <p:spPr>
          <a:xfrm>
            <a:off x="457200" y="3657600"/>
            <a:ext cx="8229600" cy="1280160"/>
          </a:xfrm>
          <a:prstGeom prst="rect">
            <a:avLst/>
          </a:prstGeom>
          <a:noFill/>
          <a:ln/>
        </p:spPr>
        <p:txBody>
          <a:bodyPr wrap="square" rtlCol="0" anchor="ctr"/>
          <a:lstStyle/>
          <a:p>
            <a:pPr marL="342900" indent="-342900">
              <a:lnSpc>
                <a:spcPct val="130000"/>
              </a:lnSpc>
              <a:buSzPct val="100000"/>
              <a:buChar char="•"/>
            </a:pPr>
            <a:r>
              <a:rPr lang="en-US" sz="1200" dirty="0">
                <a:solidFill>
                  <a:srgbClr val="FFFFFF"/>
                </a:solidFill>
                <a:latin typeface="Calibri" pitchFamily="34" charset="0"/>
                <a:ea typeface="Calibri" pitchFamily="34" charset="-122"/>
                <a:cs typeface="Calibri" pitchFamily="34" charset="-120"/>
              </a:rPr>
              <a:t>Ensemble methods (Random Forest, Gradient Boosting) significantly outperform linear models</a:t>
            </a:r>
            <a:endParaRPr lang="en-US" sz="1200" dirty="0"/>
          </a:p>
          <a:p>
            <a:pPr marL="342900" indent="-342900">
              <a:lnSpc>
                <a:spcPct val="130000"/>
              </a:lnSpc>
              <a:buSzPct val="100000"/>
              <a:buChar char="•"/>
            </a:pPr>
            <a:r>
              <a:rPr lang="en-US" sz="1200" dirty="0">
                <a:solidFill>
                  <a:srgbClr val="FFFFFF"/>
                </a:solidFill>
                <a:latin typeface="Calibri" pitchFamily="34" charset="0"/>
                <a:ea typeface="Calibri" pitchFamily="34" charset="-122"/>
                <a:cs typeface="Calibri" pitchFamily="34" charset="-120"/>
              </a:rPr>
              <a:t>Nitrogen content and crop type are the most influential features for yield prediction</a:t>
            </a:r>
            <a:endParaRPr lang="en-US" sz="1200" dirty="0"/>
          </a:p>
          <a:p>
            <a:pPr marL="342900" indent="-342900">
              <a:lnSpc>
                <a:spcPct val="130000"/>
              </a:lnSpc>
              <a:buSzPct val="100000"/>
              <a:buChar char="•"/>
            </a:pPr>
            <a:r>
              <a:rPr lang="en-US" sz="1200" dirty="0">
                <a:solidFill>
                  <a:srgbClr val="FFFFFF"/>
                </a:solidFill>
                <a:latin typeface="Calibri" pitchFamily="34" charset="0"/>
                <a:ea typeface="Calibri" pitchFamily="34" charset="-122"/>
                <a:cs typeface="Calibri" pitchFamily="34" charset="-120"/>
              </a:rPr>
              <a:t>SVR with RBF kernel shows moderate performance; hyperparameter tuning could improve results</a:t>
            </a:r>
            <a:endParaRPr lang="en-US" sz="1200" dirty="0"/>
          </a:p>
          <a:p>
            <a:pPr marL="342900" indent="-342900">
              <a:lnSpc>
                <a:spcPct val="130000"/>
              </a:lnSpc>
              <a:buSzPct val="100000"/>
              <a:buChar char="•"/>
            </a:pPr>
            <a:r>
              <a:rPr lang="en-US" sz="1200" dirty="0">
                <a:solidFill>
                  <a:srgbClr val="FFFFFF"/>
                </a:solidFill>
                <a:latin typeface="Calibri" pitchFamily="34" charset="0"/>
                <a:ea typeface="Calibri" pitchFamily="34" charset="-122"/>
                <a:cs typeface="Calibri" pitchFamily="34" charset="-120"/>
              </a:rPr>
              <a:t>80-20 train-test split provides robust evaluation with 400 test samples</a:t>
            </a:r>
            <a:endParaRPr lang="en-US" sz="1200" dirty="0"/>
          </a:p>
        </p:txBody>
      </p:sp>
      <p:sp>
        <p:nvSpPr>
          <p:cNvPr id="15" name="Text 13"/>
          <p:cNvSpPr/>
          <p:nvPr/>
        </p:nvSpPr>
        <p:spPr>
          <a:xfrm>
            <a:off x="8046720" y="4754880"/>
            <a:ext cx="914400" cy="274320"/>
          </a:xfrm>
          <a:prstGeom prst="rect">
            <a:avLst/>
          </a:prstGeom>
          <a:noFill/>
          <a:ln/>
        </p:spPr>
        <p:txBody>
          <a:bodyPr wrap="square" rtlCol="0" anchor="ctr"/>
          <a:lstStyle/>
          <a:p>
            <a:pPr algn="r" indent="0" marL="0">
              <a:buNone/>
            </a:pPr>
            <a:r>
              <a:rPr lang="en-US" sz="1000" dirty="0">
                <a:solidFill>
                  <a:srgbClr val="6B7B6E"/>
                </a:solidFill>
              </a:rPr>
              <a:t>10 / 12</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2C5F2D"/>
          </a:solidFill>
          <a:ln/>
        </p:spPr>
      </p:sp>
      <p:sp>
        <p:nvSpPr>
          <p:cNvPr id="3" name="Text 1"/>
          <p:cNvSpPr/>
          <p:nvPr/>
        </p:nvSpPr>
        <p:spPr>
          <a:xfrm>
            <a:off x="457200" y="274320"/>
            <a:ext cx="8229600" cy="640080"/>
          </a:xfrm>
          <a:prstGeom prst="rect">
            <a:avLst/>
          </a:prstGeom>
          <a:noFill/>
          <a:ln/>
        </p:spPr>
        <p:txBody>
          <a:bodyPr wrap="square" rtlCol="0" anchor="ctr"/>
          <a:lstStyle/>
          <a:p>
            <a:pPr indent="0" marL="0">
              <a:buNone/>
            </a:pPr>
            <a:r>
              <a:rPr lang="en-US" sz="3200" b="1" dirty="0">
                <a:solidFill>
                  <a:srgbClr val="1B3A2D"/>
                </a:solidFill>
                <a:latin typeface="Georgia" pitchFamily="34" charset="0"/>
                <a:ea typeface="Georgia" pitchFamily="34" charset="-122"/>
                <a:cs typeface="Georgia" pitchFamily="34" charset="-120"/>
              </a:rPr>
              <a:t>FEATURE IMPORTANCE</a:t>
            </a:r>
            <a:endParaRPr lang="en-US" sz="3200" dirty="0"/>
          </a:p>
        </p:txBody>
      </p:sp>
      <p:sp>
        <p:nvSpPr>
          <p:cNvPr id="4" name="Shape 2"/>
          <p:cNvSpPr/>
          <p:nvPr/>
        </p:nvSpPr>
        <p:spPr>
          <a:xfrm>
            <a:off x="457200" y="914400"/>
            <a:ext cx="1828800" cy="0"/>
          </a:xfrm>
          <a:prstGeom prst="line">
            <a:avLst/>
          </a:prstGeom>
          <a:noFill/>
          <a:ln w="38100">
            <a:solidFill>
              <a:srgbClr val="97BC62"/>
            </a:solidFill>
            <a:prstDash val="solid"/>
          </a:ln>
        </p:spPr>
      </p:sp>
      <p:sp>
        <p:nvSpPr>
          <p:cNvPr id="5" name="Text 3"/>
          <p:cNvSpPr/>
          <p:nvPr/>
        </p:nvSpPr>
        <p:spPr>
          <a:xfrm>
            <a:off x="457200" y="1188720"/>
            <a:ext cx="2011680" cy="365760"/>
          </a:xfrm>
          <a:prstGeom prst="rect">
            <a:avLst/>
          </a:prstGeom>
          <a:noFill/>
          <a:ln/>
        </p:spPr>
        <p:txBody>
          <a:bodyPr wrap="square" rtlCol="0" anchor="ctr"/>
          <a:lstStyle/>
          <a:p>
            <a:pPr algn="r" indent="0" marL="0">
              <a:buNone/>
            </a:pPr>
            <a:r>
              <a:rPr lang="en-US" sz="1100" dirty="0">
                <a:solidFill>
                  <a:srgbClr val="2D2D2D"/>
                </a:solidFill>
                <a:latin typeface="Calibri" pitchFamily="34" charset="0"/>
                <a:ea typeface="Calibri" pitchFamily="34" charset="-122"/>
                <a:cs typeface="Calibri" pitchFamily="34" charset="-120"/>
              </a:rPr>
              <a:t>Crop Type</a:t>
            </a:r>
            <a:endParaRPr lang="en-US" sz="1100" dirty="0"/>
          </a:p>
        </p:txBody>
      </p:sp>
      <p:sp>
        <p:nvSpPr>
          <p:cNvPr id="6" name="Shape 4"/>
          <p:cNvSpPr/>
          <p:nvPr/>
        </p:nvSpPr>
        <p:spPr>
          <a:xfrm>
            <a:off x="2651760" y="1261872"/>
            <a:ext cx="5669280" cy="228600"/>
          </a:xfrm>
          <a:prstGeom prst="rect">
            <a:avLst/>
          </a:prstGeom>
          <a:solidFill>
            <a:srgbClr val="E8F0E3"/>
          </a:solidFill>
          <a:ln/>
        </p:spPr>
      </p:sp>
      <p:sp>
        <p:nvSpPr>
          <p:cNvPr id="7" name="Shape 5"/>
          <p:cNvSpPr/>
          <p:nvPr/>
        </p:nvSpPr>
        <p:spPr>
          <a:xfrm>
            <a:off x="2651760" y="1261872"/>
            <a:ext cx="5215738" cy="228600"/>
          </a:xfrm>
          <a:prstGeom prst="rect">
            <a:avLst/>
          </a:prstGeom>
          <a:solidFill>
            <a:srgbClr val="2C5F2D"/>
          </a:solidFill>
          <a:ln/>
        </p:spPr>
      </p:sp>
      <p:sp>
        <p:nvSpPr>
          <p:cNvPr id="8" name="Text 6"/>
          <p:cNvSpPr/>
          <p:nvPr/>
        </p:nvSpPr>
        <p:spPr>
          <a:xfrm>
            <a:off x="7958938" y="1188720"/>
            <a:ext cx="548640" cy="365760"/>
          </a:xfrm>
          <a:prstGeom prst="rect">
            <a:avLst/>
          </a:prstGeom>
          <a:noFill/>
          <a:ln/>
        </p:spPr>
        <p:txBody>
          <a:bodyPr wrap="square" rtlCol="0" anchor="ctr"/>
          <a:lstStyle/>
          <a:p>
            <a:pPr indent="0" marL="0">
              <a:buNone/>
            </a:pPr>
            <a:r>
              <a:rPr lang="en-US" sz="1000" dirty="0">
                <a:solidFill>
                  <a:srgbClr val="6B7B6E"/>
                </a:solidFill>
                <a:latin typeface="Calibri" pitchFamily="34" charset="0"/>
                <a:ea typeface="Calibri" pitchFamily="34" charset="-122"/>
                <a:cs typeface="Calibri" pitchFamily="34" charset="-120"/>
              </a:rPr>
              <a:t>92%</a:t>
            </a:r>
            <a:endParaRPr lang="en-US" sz="1000" dirty="0"/>
          </a:p>
        </p:txBody>
      </p:sp>
      <p:sp>
        <p:nvSpPr>
          <p:cNvPr id="9" name="Text 7"/>
          <p:cNvSpPr/>
          <p:nvPr/>
        </p:nvSpPr>
        <p:spPr>
          <a:xfrm>
            <a:off x="457200" y="1645920"/>
            <a:ext cx="2011680" cy="365760"/>
          </a:xfrm>
          <a:prstGeom prst="rect">
            <a:avLst/>
          </a:prstGeom>
          <a:noFill/>
          <a:ln/>
        </p:spPr>
        <p:txBody>
          <a:bodyPr wrap="square" rtlCol="0" anchor="ctr"/>
          <a:lstStyle/>
          <a:p>
            <a:pPr algn="r" indent="0" marL="0">
              <a:buNone/>
            </a:pPr>
            <a:r>
              <a:rPr lang="en-US" sz="1100" dirty="0">
                <a:solidFill>
                  <a:srgbClr val="2D2D2D"/>
                </a:solidFill>
                <a:latin typeface="Calibri" pitchFamily="34" charset="0"/>
                <a:ea typeface="Calibri" pitchFamily="34" charset="-122"/>
                <a:cs typeface="Calibri" pitchFamily="34" charset="-120"/>
              </a:rPr>
              <a:t>Nitrogen (kg)</a:t>
            </a:r>
            <a:endParaRPr lang="en-US" sz="1100" dirty="0"/>
          </a:p>
        </p:txBody>
      </p:sp>
      <p:sp>
        <p:nvSpPr>
          <p:cNvPr id="10" name="Shape 8"/>
          <p:cNvSpPr/>
          <p:nvPr/>
        </p:nvSpPr>
        <p:spPr>
          <a:xfrm>
            <a:off x="2651760" y="1719072"/>
            <a:ext cx="5669280" cy="228600"/>
          </a:xfrm>
          <a:prstGeom prst="rect">
            <a:avLst/>
          </a:prstGeom>
          <a:solidFill>
            <a:srgbClr val="E8F0E3"/>
          </a:solidFill>
          <a:ln/>
        </p:spPr>
      </p:sp>
      <p:sp>
        <p:nvSpPr>
          <p:cNvPr id="11" name="Shape 9"/>
          <p:cNvSpPr/>
          <p:nvPr/>
        </p:nvSpPr>
        <p:spPr>
          <a:xfrm>
            <a:off x="2651760" y="1719072"/>
            <a:ext cx="3855110" cy="228600"/>
          </a:xfrm>
          <a:prstGeom prst="rect">
            <a:avLst/>
          </a:prstGeom>
          <a:solidFill>
            <a:srgbClr val="2C5F2D"/>
          </a:solidFill>
          <a:ln/>
        </p:spPr>
      </p:sp>
      <p:sp>
        <p:nvSpPr>
          <p:cNvPr id="12" name="Text 10"/>
          <p:cNvSpPr/>
          <p:nvPr/>
        </p:nvSpPr>
        <p:spPr>
          <a:xfrm>
            <a:off x="6598310" y="1645920"/>
            <a:ext cx="548640" cy="365760"/>
          </a:xfrm>
          <a:prstGeom prst="rect">
            <a:avLst/>
          </a:prstGeom>
          <a:noFill/>
          <a:ln/>
        </p:spPr>
        <p:txBody>
          <a:bodyPr wrap="square" rtlCol="0" anchor="ctr"/>
          <a:lstStyle/>
          <a:p>
            <a:pPr indent="0" marL="0">
              <a:buNone/>
            </a:pPr>
            <a:r>
              <a:rPr lang="en-US" sz="1000" dirty="0">
                <a:solidFill>
                  <a:srgbClr val="6B7B6E"/>
                </a:solidFill>
                <a:latin typeface="Calibri" pitchFamily="34" charset="0"/>
                <a:ea typeface="Calibri" pitchFamily="34" charset="-122"/>
                <a:cs typeface="Calibri" pitchFamily="34" charset="-120"/>
              </a:rPr>
              <a:t>68%</a:t>
            </a:r>
            <a:endParaRPr lang="en-US" sz="1000" dirty="0"/>
          </a:p>
        </p:txBody>
      </p:sp>
      <p:sp>
        <p:nvSpPr>
          <p:cNvPr id="13" name="Text 11"/>
          <p:cNvSpPr/>
          <p:nvPr/>
        </p:nvSpPr>
        <p:spPr>
          <a:xfrm>
            <a:off x="457200" y="2103120"/>
            <a:ext cx="2011680" cy="365760"/>
          </a:xfrm>
          <a:prstGeom prst="rect">
            <a:avLst/>
          </a:prstGeom>
          <a:noFill/>
          <a:ln/>
        </p:spPr>
        <p:txBody>
          <a:bodyPr wrap="square" rtlCol="0" anchor="ctr"/>
          <a:lstStyle/>
          <a:p>
            <a:pPr algn="r" indent="0" marL="0">
              <a:buNone/>
            </a:pPr>
            <a:r>
              <a:rPr lang="en-US" sz="1100" dirty="0">
                <a:solidFill>
                  <a:srgbClr val="2D2D2D"/>
                </a:solidFill>
                <a:latin typeface="Calibri" pitchFamily="34" charset="0"/>
                <a:ea typeface="Calibri" pitchFamily="34" charset="-122"/>
                <a:cs typeface="Calibri" pitchFamily="34" charset="-120"/>
              </a:rPr>
              <a:t>Rainfall (mm)</a:t>
            </a:r>
            <a:endParaRPr lang="en-US" sz="1100" dirty="0"/>
          </a:p>
        </p:txBody>
      </p:sp>
      <p:sp>
        <p:nvSpPr>
          <p:cNvPr id="14" name="Shape 12"/>
          <p:cNvSpPr/>
          <p:nvPr/>
        </p:nvSpPr>
        <p:spPr>
          <a:xfrm>
            <a:off x="2651760" y="2176272"/>
            <a:ext cx="5669280" cy="228600"/>
          </a:xfrm>
          <a:prstGeom prst="rect">
            <a:avLst/>
          </a:prstGeom>
          <a:solidFill>
            <a:srgbClr val="E8F0E3"/>
          </a:solidFill>
          <a:ln/>
        </p:spPr>
      </p:sp>
      <p:sp>
        <p:nvSpPr>
          <p:cNvPr id="15" name="Shape 13"/>
          <p:cNvSpPr/>
          <p:nvPr/>
        </p:nvSpPr>
        <p:spPr>
          <a:xfrm>
            <a:off x="2651760" y="2176272"/>
            <a:ext cx="3118104" cy="228600"/>
          </a:xfrm>
          <a:prstGeom prst="rect">
            <a:avLst/>
          </a:prstGeom>
          <a:solidFill>
            <a:srgbClr val="2C5F2D"/>
          </a:solidFill>
          <a:ln/>
        </p:spPr>
      </p:sp>
      <p:sp>
        <p:nvSpPr>
          <p:cNvPr id="16" name="Text 14"/>
          <p:cNvSpPr/>
          <p:nvPr/>
        </p:nvSpPr>
        <p:spPr>
          <a:xfrm>
            <a:off x="5861304" y="2103120"/>
            <a:ext cx="548640" cy="365760"/>
          </a:xfrm>
          <a:prstGeom prst="rect">
            <a:avLst/>
          </a:prstGeom>
          <a:noFill/>
          <a:ln/>
        </p:spPr>
        <p:txBody>
          <a:bodyPr wrap="square" rtlCol="0" anchor="ctr"/>
          <a:lstStyle/>
          <a:p>
            <a:pPr indent="0" marL="0">
              <a:buNone/>
            </a:pPr>
            <a:r>
              <a:rPr lang="en-US" sz="1000" dirty="0">
                <a:solidFill>
                  <a:srgbClr val="6B7B6E"/>
                </a:solidFill>
                <a:latin typeface="Calibri" pitchFamily="34" charset="0"/>
                <a:ea typeface="Calibri" pitchFamily="34" charset="-122"/>
                <a:cs typeface="Calibri" pitchFamily="34" charset="-120"/>
              </a:rPr>
              <a:t>55%</a:t>
            </a:r>
            <a:endParaRPr lang="en-US" sz="1000" dirty="0"/>
          </a:p>
        </p:txBody>
      </p:sp>
      <p:sp>
        <p:nvSpPr>
          <p:cNvPr id="17" name="Text 15"/>
          <p:cNvSpPr/>
          <p:nvPr/>
        </p:nvSpPr>
        <p:spPr>
          <a:xfrm>
            <a:off x="457200" y="2560320"/>
            <a:ext cx="2011680" cy="365760"/>
          </a:xfrm>
          <a:prstGeom prst="rect">
            <a:avLst/>
          </a:prstGeom>
          <a:noFill/>
          <a:ln/>
        </p:spPr>
        <p:txBody>
          <a:bodyPr wrap="square" rtlCol="0" anchor="ctr"/>
          <a:lstStyle/>
          <a:p>
            <a:pPr algn="r" indent="0" marL="0">
              <a:buNone/>
            </a:pPr>
            <a:r>
              <a:rPr lang="en-US" sz="1100" dirty="0">
                <a:solidFill>
                  <a:srgbClr val="2D2D2D"/>
                </a:solidFill>
                <a:latin typeface="Calibri" pitchFamily="34" charset="0"/>
                <a:ea typeface="Calibri" pitchFamily="34" charset="-122"/>
                <a:cs typeface="Calibri" pitchFamily="34" charset="-120"/>
              </a:rPr>
              <a:t>Temperature (°C)</a:t>
            </a:r>
            <a:endParaRPr lang="en-US" sz="1100" dirty="0"/>
          </a:p>
        </p:txBody>
      </p:sp>
      <p:sp>
        <p:nvSpPr>
          <p:cNvPr id="18" name="Shape 16"/>
          <p:cNvSpPr/>
          <p:nvPr/>
        </p:nvSpPr>
        <p:spPr>
          <a:xfrm>
            <a:off x="2651760" y="2633472"/>
            <a:ext cx="5669280" cy="228600"/>
          </a:xfrm>
          <a:prstGeom prst="rect">
            <a:avLst/>
          </a:prstGeom>
          <a:solidFill>
            <a:srgbClr val="E8F0E3"/>
          </a:solidFill>
          <a:ln/>
        </p:spPr>
      </p:sp>
      <p:sp>
        <p:nvSpPr>
          <p:cNvPr id="19" name="Shape 17"/>
          <p:cNvSpPr/>
          <p:nvPr/>
        </p:nvSpPr>
        <p:spPr>
          <a:xfrm>
            <a:off x="2651760" y="2633472"/>
            <a:ext cx="2721254" cy="228600"/>
          </a:xfrm>
          <a:prstGeom prst="rect">
            <a:avLst/>
          </a:prstGeom>
          <a:solidFill>
            <a:srgbClr val="2C5F2D"/>
          </a:solidFill>
          <a:ln/>
        </p:spPr>
      </p:sp>
      <p:sp>
        <p:nvSpPr>
          <p:cNvPr id="20" name="Text 18"/>
          <p:cNvSpPr/>
          <p:nvPr/>
        </p:nvSpPr>
        <p:spPr>
          <a:xfrm>
            <a:off x="5464454" y="2560320"/>
            <a:ext cx="548640" cy="365760"/>
          </a:xfrm>
          <a:prstGeom prst="rect">
            <a:avLst/>
          </a:prstGeom>
          <a:noFill/>
          <a:ln/>
        </p:spPr>
        <p:txBody>
          <a:bodyPr wrap="square" rtlCol="0" anchor="ctr"/>
          <a:lstStyle/>
          <a:p>
            <a:pPr indent="0" marL="0">
              <a:buNone/>
            </a:pPr>
            <a:r>
              <a:rPr lang="en-US" sz="1000" dirty="0">
                <a:solidFill>
                  <a:srgbClr val="6B7B6E"/>
                </a:solidFill>
                <a:latin typeface="Calibri" pitchFamily="34" charset="0"/>
                <a:ea typeface="Calibri" pitchFamily="34" charset="-122"/>
                <a:cs typeface="Calibri" pitchFamily="34" charset="-120"/>
              </a:rPr>
              <a:t>48%</a:t>
            </a:r>
            <a:endParaRPr lang="en-US" sz="1000" dirty="0"/>
          </a:p>
        </p:txBody>
      </p:sp>
      <p:sp>
        <p:nvSpPr>
          <p:cNvPr id="21" name="Text 19"/>
          <p:cNvSpPr/>
          <p:nvPr/>
        </p:nvSpPr>
        <p:spPr>
          <a:xfrm>
            <a:off x="457200" y="3017520"/>
            <a:ext cx="2011680" cy="365760"/>
          </a:xfrm>
          <a:prstGeom prst="rect">
            <a:avLst/>
          </a:prstGeom>
          <a:noFill/>
          <a:ln/>
        </p:spPr>
        <p:txBody>
          <a:bodyPr wrap="square" rtlCol="0" anchor="ctr"/>
          <a:lstStyle/>
          <a:p>
            <a:pPr algn="r" indent="0" marL="0">
              <a:buNone/>
            </a:pPr>
            <a:r>
              <a:rPr lang="en-US" sz="1100" dirty="0">
                <a:solidFill>
                  <a:srgbClr val="2D2D2D"/>
                </a:solidFill>
                <a:latin typeface="Calibri" pitchFamily="34" charset="0"/>
                <a:ea typeface="Calibri" pitchFamily="34" charset="-122"/>
                <a:cs typeface="Calibri" pitchFamily="34" charset="-120"/>
              </a:rPr>
              <a:t>Phosphorus (kg)</a:t>
            </a:r>
            <a:endParaRPr lang="en-US" sz="1100" dirty="0"/>
          </a:p>
        </p:txBody>
      </p:sp>
      <p:sp>
        <p:nvSpPr>
          <p:cNvPr id="22" name="Shape 20"/>
          <p:cNvSpPr/>
          <p:nvPr/>
        </p:nvSpPr>
        <p:spPr>
          <a:xfrm>
            <a:off x="2651760" y="3090672"/>
            <a:ext cx="5669280" cy="228600"/>
          </a:xfrm>
          <a:prstGeom prst="rect">
            <a:avLst/>
          </a:prstGeom>
          <a:solidFill>
            <a:srgbClr val="E8F0E3"/>
          </a:solidFill>
          <a:ln/>
        </p:spPr>
      </p:sp>
      <p:sp>
        <p:nvSpPr>
          <p:cNvPr id="23" name="Shape 21"/>
          <p:cNvSpPr/>
          <p:nvPr/>
        </p:nvSpPr>
        <p:spPr>
          <a:xfrm>
            <a:off x="2651760" y="3090672"/>
            <a:ext cx="1984248" cy="228600"/>
          </a:xfrm>
          <a:prstGeom prst="rect">
            <a:avLst/>
          </a:prstGeom>
          <a:solidFill>
            <a:srgbClr val="2C5F2D"/>
          </a:solidFill>
          <a:ln/>
        </p:spPr>
      </p:sp>
      <p:sp>
        <p:nvSpPr>
          <p:cNvPr id="24" name="Text 22"/>
          <p:cNvSpPr/>
          <p:nvPr/>
        </p:nvSpPr>
        <p:spPr>
          <a:xfrm>
            <a:off x="4727448" y="3017520"/>
            <a:ext cx="548640" cy="365760"/>
          </a:xfrm>
          <a:prstGeom prst="rect">
            <a:avLst/>
          </a:prstGeom>
          <a:noFill/>
          <a:ln/>
        </p:spPr>
        <p:txBody>
          <a:bodyPr wrap="square" rtlCol="0" anchor="ctr"/>
          <a:lstStyle/>
          <a:p>
            <a:pPr indent="0" marL="0">
              <a:buNone/>
            </a:pPr>
            <a:r>
              <a:rPr lang="en-US" sz="1000" dirty="0">
                <a:solidFill>
                  <a:srgbClr val="6B7B6E"/>
                </a:solidFill>
                <a:latin typeface="Calibri" pitchFamily="34" charset="0"/>
                <a:ea typeface="Calibri" pitchFamily="34" charset="-122"/>
                <a:cs typeface="Calibri" pitchFamily="34" charset="-120"/>
              </a:rPr>
              <a:t>35%</a:t>
            </a:r>
            <a:endParaRPr lang="en-US" sz="1000" dirty="0"/>
          </a:p>
        </p:txBody>
      </p:sp>
      <p:sp>
        <p:nvSpPr>
          <p:cNvPr id="25" name="Text 23"/>
          <p:cNvSpPr/>
          <p:nvPr/>
        </p:nvSpPr>
        <p:spPr>
          <a:xfrm>
            <a:off x="457200" y="3474720"/>
            <a:ext cx="2011680" cy="365760"/>
          </a:xfrm>
          <a:prstGeom prst="rect">
            <a:avLst/>
          </a:prstGeom>
          <a:noFill/>
          <a:ln/>
        </p:spPr>
        <p:txBody>
          <a:bodyPr wrap="square" rtlCol="0" anchor="ctr"/>
          <a:lstStyle/>
          <a:p>
            <a:pPr algn="r" indent="0" marL="0">
              <a:buNone/>
            </a:pPr>
            <a:r>
              <a:rPr lang="en-US" sz="1100" dirty="0">
                <a:solidFill>
                  <a:srgbClr val="2D2D2D"/>
                </a:solidFill>
                <a:latin typeface="Calibri" pitchFamily="34" charset="0"/>
                <a:ea typeface="Calibri" pitchFamily="34" charset="-122"/>
                <a:cs typeface="Calibri" pitchFamily="34" charset="-120"/>
              </a:rPr>
              <a:t>Potassium (kg)</a:t>
            </a:r>
            <a:endParaRPr lang="en-US" sz="1100" dirty="0"/>
          </a:p>
        </p:txBody>
      </p:sp>
      <p:sp>
        <p:nvSpPr>
          <p:cNvPr id="26" name="Shape 24"/>
          <p:cNvSpPr/>
          <p:nvPr/>
        </p:nvSpPr>
        <p:spPr>
          <a:xfrm>
            <a:off x="2651760" y="3547872"/>
            <a:ext cx="5669280" cy="228600"/>
          </a:xfrm>
          <a:prstGeom prst="rect">
            <a:avLst/>
          </a:prstGeom>
          <a:solidFill>
            <a:srgbClr val="E8F0E3"/>
          </a:solidFill>
          <a:ln/>
        </p:spPr>
      </p:sp>
      <p:sp>
        <p:nvSpPr>
          <p:cNvPr id="27" name="Shape 25"/>
          <p:cNvSpPr/>
          <p:nvPr/>
        </p:nvSpPr>
        <p:spPr>
          <a:xfrm>
            <a:off x="2651760" y="3547872"/>
            <a:ext cx="1587398" cy="228600"/>
          </a:xfrm>
          <a:prstGeom prst="rect">
            <a:avLst/>
          </a:prstGeom>
          <a:solidFill>
            <a:srgbClr val="2C5F2D"/>
          </a:solidFill>
          <a:ln/>
        </p:spPr>
      </p:sp>
      <p:sp>
        <p:nvSpPr>
          <p:cNvPr id="28" name="Text 26"/>
          <p:cNvSpPr/>
          <p:nvPr/>
        </p:nvSpPr>
        <p:spPr>
          <a:xfrm>
            <a:off x="4330598" y="3474720"/>
            <a:ext cx="548640" cy="365760"/>
          </a:xfrm>
          <a:prstGeom prst="rect">
            <a:avLst/>
          </a:prstGeom>
          <a:noFill/>
          <a:ln/>
        </p:spPr>
        <p:txBody>
          <a:bodyPr wrap="square" rtlCol="0" anchor="ctr"/>
          <a:lstStyle/>
          <a:p>
            <a:pPr indent="0" marL="0">
              <a:buNone/>
            </a:pPr>
            <a:r>
              <a:rPr lang="en-US" sz="1000" dirty="0">
                <a:solidFill>
                  <a:srgbClr val="6B7B6E"/>
                </a:solidFill>
                <a:latin typeface="Calibri" pitchFamily="34" charset="0"/>
                <a:ea typeface="Calibri" pitchFamily="34" charset="-122"/>
                <a:cs typeface="Calibri" pitchFamily="34" charset="-120"/>
              </a:rPr>
              <a:t>28%</a:t>
            </a:r>
            <a:endParaRPr lang="en-US" sz="1000" dirty="0"/>
          </a:p>
        </p:txBody>
      </p:sp>
      <p:sp>
        <p:nvSpPr>
          <p:cNvPr id="29" name="Text 27"/>
          <p:cNvSpPr/>
          <p:nvPr/>
        </p:nvSpPr>
        <p:spPr>
          <a:xfrm>
            <a:off x="457200" y="3931920"/>
            <a:ext cx="2011680" cy="365760"/>
          </a:xfrm>
          <a:prstGeom prst="rect">
            <a:avLst/>
          </a:prstGeom>
          <a:noFill/>
          <a:ln/>
        </p:spPr>
        <p:txBody>
          <a:bodyPr wrap="square" rtlCol="0" anchor="ctr"/>
          <a:lstStyle/>
          <a:p>
            <a:pPr algn="r" indent="0" marL="0">
              <a:buNone/>
            </a:pPr>
            <a:r>
              <a:rPr lang="en-US" sz="1100" dirty="0">
                <a:solidFill>
                  <a:srgbClr val="2D2D2D"/>
                </a:solidFill>
                <a:latin typeface="Calibri" pitchFamily="34" charset="0"/>
                <a:ea typeface="Calibri" pitchFamily="34" charset="-122"/>
                <a:cs typeface="Calibri" pitchFamily="34" charset="-120"/>
              </a:rPr>
              <a:t>Humidity (%)</a:t>
            </a:r>
            <a:endParaRPr lang="en-US" sz="1100" dirty="0"/>
          </a:p>
        </p:txBody>
      </p:sp>
      <p:sp>
        <p:nvSpPr>
          <p:cNvPr id="30" name="Shape 28"/>
          <p:cNvSpPr/>
          <p:nvPr/>
        </p:nvSpPr>
        <p:spPr>
          <a:xfrm>
            <a:off x="2651760" y="4005072"/>
            <a:ext cx="5669280" cy="228600"/>
          </a:xfrm>
          <a:prstGeom prst="rect">
            <a:avLst/>
          </a:prstGeom>
          <a:solidFill>
            <a:srgbClr val="E8F0E3"/>
          </a:solidFill>
          <a:ln/>
        </p:spPr>
      </p:sp>
      <p:sp>
        <p:nvSpPr>
          <p:cNvPr id="31" name="Shape 29"/>
          <p:cNvSpPr/>
          <p:nvPr/>
        </p:nvSpPr>
        <p:spPr>
          <a:xfrm>
            <a:off x="2651760" y="4005072"/>
            <a:ext cx="1247242" cy="228600"/>
          </a:xfrm>
          <a:prstGeom prst="rect">
            <a:avLst/>
          </a:prstGeom>
          <a:solidFill>
            <a:srgbClr val="2C5F2D"/>
          </a:solidFill>
          <a:ln/>
        </p:spPr>
      </p:sp>
      <p:sp>
        <p:nvSpPr>
          <p:cNvPr id="32" name="Text 30"/>
          <p:cNvSpPr/>
          <p:nvPr/>
        </p:nvSpPr>
        <p:spPr>
          <a:xfrm>
            <a:off x="3990442" y="3931920"/>
            <a:ext cx="548640" cy="365760"/>
          </a:xfrm>
          <a:prstGeom prst="rect">
            <a:avLst/>
          </a:prstGeom>
          <a:noFill/>
          <a:ln/>
        </p:spPr>
        <p:txBody>
          <a:bodyPr wrap="square" rtlCol="0" anchor="ctr"/>
          <a:lstStyle/>
          <a:p>
            <a:pPr indent="0" marL="0">
              <a:buNone/>
            </a:pPr>
            <a:r>
              <a:rPr lang="en-US" sz="1000" dirty="0">
                <a:solidFill>
                  <a:srgbClr val="6B7B6E"/>
                </a:solidFill>
                <a:latin typeface="Calibri" pitchFamily="34" charset="0"/>
                <a:ea typeface="Calibri" pitchFamily="34" charset="-122"/>
                <a:cs typeface="Calibri" pitchFamily="34" charset="-120"/>
              </a:rPr>
              <a:t>22%</a:t>
            </a:r>
            <a:endParaRPr lang="en-US" sz="1000" dirty="0"/>
          </a:p>
        </p:txBody>
      </p:sp>
      <p:sp>
        <p:nvSpPr>
          <p:cNvPr id="33" name="Text 31"/>
          <p:cNvSpPr/>
          <p:nvPr/>
        </p:nvSpPr>
        <p:spPr>
          <a:xfrm>
            <a:off x="457200" y="4389120"/>
            <a:ext cx="2011680" cy="365760"/>
          </a:xfrm>
          <a:prstGeom prst="rect">
            <a:avLst/>
          </a:prstGeom>
          <a:noFill/>
          <a:ln/>
        </p:spPr>
        <p:txBody>
          <a:bodyPr wrap="square" rtlCol="0" anchor="ctr"/>
          <a:lstStyle/>
          <a:p>
            <a:pPr algn="r" indent="0" marL="0">
              <a:buNone/>
            </a:pPr>
            <a:r>
              <a:rPr lang="en-US" sz="1100" dirty="0">
                <a:solidFill>
                  <a:srgbClr val="2D2D2D"/>
                </a:solidFill>
                <a:latin typeface="Calibri" pitchFamily="34" charset="0"/>
                <a:ea typeface="Calibri" pitchFamily="34" charset="-122"/>
                <a:cs typeface="Calibri" pitchFamily="34" charset="-120"/>
              </a:rPr>
              <a:t>Soil pH</a:t>
            </a:r>
            <a:endParaRPr lang="en-US" sz="1100" dirty="0"/>
          </a:p>
        </p:txBody>
      </p:sp>
      <p:sp>
        <p:nvSpPr>
          <p:cNvPr id="34" name="Shape 32"/>
          <p:cNvSpPr/>
          <p:nvPr/>
        </p:nvSpPr>
        <p:spPr>
          <a:xfrm>
            <a:off x="2651760" y="4462272"/>
            <a:ext cx="5669280" cy="228600"/>
          </a:xfrm>
          <a:prstGeom prst="rect">
            <a:avLst/>
          </a:prstGeom>
          <a:solidFill>
            <a:srgbClr val="E8F0E3"/>
          </a:solidFill>
          <a:ln/>
        </p:spPr>
      </p:sp>
      <p:sp>
        <p:nvSpPr>
          <p:cNvPr id="35" name="Shape 33"/>
          <p:cNvSpPr/>
          <p:nvPr/>
        </p:nvSpPr>
        <p:spPr>
          <a:xfrm>
            <a:off x="2651760" y="4462272"/>
            <a:ext cx="850392" cy="228600"/>
          </a:xfrm>
          <a:prstGeom prst="rect">
            <a:avLst/>
          </a:prstGeom>
          <a:solidFill>
            <a:srgbClr val="2C5F2D"/>
          </a:solidFill>
          <a:ln/>
        </p:spPr>
      </p:sp>
      <p:sp>
        <p:nvSpPr>
          <p:cNvPr id="36" name="Text 34"/>
          <p:cNvSpPr/>
          <p:nvPr/>
        </p:nvSpPr>
        <p:spPr>
          <a:xfrm>
            <a:off x="3593592" y="4389120"/>
            <a:ext cx="548640" cy="365760"/>
          </a:xfrm>
          <a:prstGeom prst="rect">
            <a:avLst/>
          </a:prstGeom>
          <a:noFill/>
          <a:ln/>
        </p:spPr>
        <p:txBody>
          <a:bodyPr wrap="square" rtlCol="0" anchor="ctr"/>
          <a:lstStyle/>
          <a:p>
            <a:pPr indent="0" marL="0">
              <a:buNone/>
            </a:pPr>
            <a:r>
              <a:rPr lang="en-US" sz="1000" dirty="0">
                <a:solidFill>
                  <a:srgbClr val="6B7B6E"/>
                </a:solidFill>
                <a:latin typeface="Calibri" pitchFamily="34" charset="0"/>
                <a:ea typeface="Calibri" pitchFamily="34" charset="-122"/>
                <a:cs typeface="Calibri" pitchFamily="34" charset="-120"/>
              </a:rPr>
              <a:t>15%</a:t>
            </a:r>
            <a:endParaRPr lang="en-US" sz="1000" dirty="0"/>
          </a:p>
        </p:txBody>
      </p:sp>
      <p:sp>
        <p:nvSpPr>
          <p:cNvPr id="37" name="Text 35"/>
          <p:cNvSpPr/>
          <p:nvPr/>
        </p:nvSpPr>
        <p:spPr>
          <a:xfrm>
            <a:off x="457200" y="4663440"/>
            <a:ext cx="8229600" cy="274320"/>
          </a:xfrm>
          <a:prstGeom prst="rect">
            <a:avLst/>
          </a:prstGeom>
          <a:noFill/>
          <a:ln/>
        </p:spPr>
        <p:txBody>
          <a:bodyPr wrap="square" rtlCol="0" anchor="ctr"/>
          <a:lstStyle/>
          <a:p>
            <a:pPr algn="ctr" indent="0" marL="0">
              <a:buNone/>
            </a:pPr>
            <a:r>
              <a:rPr lang="en-US" sz="1000" i="1" dirty="0">
                <a:solidFill>
                  <a:srgbClr val="6B7B6E"/>
                </a:solidFill>
                <a:latin typeface="Calibri" pitchFamily="34" charset="0"/>
                <a:ea typeface="Calibri" pitchFamily="34" charset="-122"/>
                <a:cs typeface="Calibri" pitchFamily="34" charset="-120"/>
              </a:rPr>
              <a:t>Importance values derived from Random Forest feature_importances_ (normalized to %)</a:t>
            </a:r>
            <a:endParaRPr lang="en-US" sz="1000" dirty="0"/>
          </a:p>
        </p:txBody>
      </p:sp>
      <p:sp>
        <p:nvSpPr>
          <p:cNvPr id="38" name="Text 36"/>
          <p:cNvSpPr/>
          <p:nvPr/>
        </p:nvSpPr>
        <p:spPr>
          <a:xfrm>
            <a:off x="8046720" y="4754880"/>
            <a:ext cx="914400" cy="274320"/>
          </a:xfrm>
          <a:prstGeom prst="rect">
            <a:avLst/>
          </a:prstGeom>
          <a:noFill/>
          <a:ln/>
        </p:spPr>
        <p:txBody>
          <a:bodyPr wrap="square" rtlCol="0" anchor="ctr"/>
          <a:lstStyle/>
          <a:p>
            <a:pPr algn="r" indent="0" marL="0">
              <a:buNone/>
            </a:pPr>
            <a:r>
              <a:rPr lang="en-US" sz="1000" dirty="0">
                <a:solidFill>
                  <a:srgbClr val="6B7B6E"/>
                </a:solidFill>
              </a:rPr>
              <a:t>11 / 12</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3A2D"/>
        </a:solidFill>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rtlCol="0" anchor="ctr"/>
          <a:lstStyle/>
          <a:p>
            <a:pPr indent="0" marL="0">
              <a:buNone/>
            </a:pPr>
            <a:r>
              <a:rPr lang="en-US" sz="3200" b="1" dirty="0">
                <a:solidFill>
                  <a:srgbClr val="97BC62"/>
                </a:solidFill>
                <a:latin typeface="Georgia" pitchFamily="34" charset="0"/>
                <a:ea typeface="Georgia" pitchFamily="34" charset="-122"/>
                <a:cs typeface="Georgia" pitchFamily="34" charset="-120"/>
              </a:rPr>
              <a:t>FUTURE SCOPE</a:t>
            </a:r>
            <a:endParaRPr lang="en-US" sz="3200" dirty="0"/>
          </a:p>
        </p:txBody>
      </p:sp>
      <p:sp>
        <p:nvSpPr>
          <p:cNvPr id="3" name="Shape 1"/>
          <p:cNvSpPr/>
          <p:nvPr/>
        </p:nvSpPr>
        <p:spPr>
          <a:xfrm>
            <a:off x="457200" y="914400"/>
            <a:ext cx="1828800" cy="0"/>
          </a:xfrm>
          <a:prstGeom prst="line">
            <a:avLst/>
          </a:prstGeom>
          <a:noFill/>
          <a:ln w="38100">
            <a:solidFill>
              <a:srgbClr val="97BC62"/>
            </a:solidFill>
            <a:prstDash val="solid"/>
          </a:ln>
        </p:spPr>
      </p:sp>
      <p:sp>
        <p:nvSpPr>
          <p:cNvPr id="4" name="Shape 2"/>
          <p:cNvSpPr/>
          <p:nvPr/>
        </p:nvSpPr>
        <p:spPr>
          <a:xfrm>
            <a:off x="457200" y="1188720"/>
            <a:ext cx="54864" cy="1005840"/>
          </a:xfrm>
          <a:prstGeom prst="rect">
            <a:avLst/>
          </a:prstGeom>
          <a:solidFill>
            <a:srgbClr val="97BC62"/>
          </a:solidFill>
          <a:ln/>
        </p:spPr>
      </p:sp>
      <p:sp>
        <p:nvSpPr>
          <p:cNvPr id="5" name="Text 3"/>
          <p:cNvSpPr/>
          <p:nvPr/>
        </p:nvSpPr>
        <p:spPr>
          <a:xfrm>
            <a:off x="685800" y="1188720"/>
            <a:ext cx="3840480" cy="365760"/>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Deep Learning Models</a:t>
            </a:r>
            <a:endParaRPr lang="en-US" sz="1400" dirty="0"/>
          </a:p>
        </p:txBody>
      </p:sp>
      <p:sp>
        <p:nvSpPr>
          <p:cNvPr id="6" name="Text 4"/>
          <p:cNvSpPr/>
          <p:nvPr/>
        </p:nvSpPr>
        <p:spPr>
          <a:xfrm>
            <a:off x="685800" y="1554480"/>
            <a:ext cx="3840480" cy="640080"/>
          </a:xfrm>
          <a:prstGeom prst="rect">
            <a:avLst/>
          </a:prstGeom>
          <a:noFill/>
          <a:ln/>
        </p:spPr>
        <p:txBody>
          <a:bodyPr wrap="square" lIns="0" tIns="0" rIns="0" bIns="0" rtlCol="0" anchor="t"/>
          <a:lstStyle/>
          <a:p>
            <a:pPr indent="0" marL="0">
              <a:lnSpc>
                <a:spcPct val="120000"/>
              </a:lnSpc>
              <a:buNone/>
            </a:pPr>
            <a:r>
              <a:rPr lang="en-US" sz="1100" dirty="0">
                <a:solidFill>
                  <a:srgbClr val="6B7B6E"/>
                </a:solidFill>
                <a:latin typeface="Calibri" pitchFamily="34" charset="0"/>
                <a:ea typeface="Calibri" pitchFamily="34" charset="-122"/>
                <a:cs typeface="Calibri" pitchFamily="34" charset="-120"/>
              </a:rPr>
              <a:t>Implement LSTM and CNN architectures for time-series crop data and satellite imagery analysis.</a:t>
            </a:r>
            <a:endParaRPr lang="en-US" sz="1100" dirty="0"/>
          </a:p>
        </p:txBody>
      </p:sp>
      <p:sp>
        <p:nvSpPr>
          <p:cNvPr id="7" name="Shape 5"/>
          <p:cNvSpPr/>
          <p:nvPr/>
        </p:nvSpPr>
        <p:spPr>
          <a:xfrm>
            <a:off x="4754880" y="1188720"/>
            <a:ext cx="54864" cy="1005840"/>
          </a:xfrm>
          <a:prstGeom prst="rect">
            <a:avLst/>
          </a:prstGeom>
          <a:solidFill>
            <a:srgbClr val="97BC62"/>
          </a:solidFill>
          <a:ln/>
        </p:spPr>
      </p:sp>
      <p:sp>
        <p:nvSpPr>
          <p:cNvPr id="8" name="Text 6"/>
          <p:cNvSpPr/>
          <p:nvPr/>
        </p:nvSpPr>
        <p:spPr>
          <a:xfrm>
            <a:off x="4983480" y="1188720"/>
            <a:ext cx="3840480" cy="365760"/>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Real-Time Prediction</a:t>
            </a:r>
            <a:endParaRPr lang="en-US" sz="1400" dirty="0"/>
          </a:p>
        </p:txBody>
      </p:sp>
      <p:sp>
        <p:nvSpPr>
          <p:cNvPr id="9" name="Text 7"/>
          <p:cNvSpPr/>
          <p:nvPr/>
        </p:nvSpPr>
        <p:spPr>
          <a:xfrm>
            <a:off x="4983480" y="1554480"/>
            <a:ext cx="3840480" cy="640080"/>
          </a:xfrm>
          <a:prstGeom prst="rect">
            <a:avLst/>
          </a:prstGeom>
          <a:noFill/>
          <a:ln/>
        </p:spPr>
        <p:txBody>
          <a:bodyPr wrap="square" lIns="0" tIns="0" rIns="0" bIns="0" rtlCol="0" anchor="t"/>
          <a:lstStyle/>
          <a:p>
            <a:pPr indent="0" marL="0">
              <a:lnSpc>
                <a:spcPct val="120000"/>
              </a:lnSpc>
              <a:buNone/>
            </a:pPr>
            <a:r>
              <a:rPr lang="en-US" sz="1100" dirty="0">
                <a:solidFill>
                  <a:srgbClr val="6B7B6E"/>
                </a:solidFill>
                <a:latin typeface="Calibri" pitchFamily="34" charset="0"/>
                <a:ea typeface="Calibri" pitchFamily="34" charset="-122"/>
                <a:cs typeface="Calibri" pitchFamily="34" charset="-120"/>
              </a:rPr>
              <a:t>Integrate IoT sensors for live soil and weather data feeding into the prediction pipeline.</a:t>
            </a:r>
            <a:endParaRPr lang="en-US" sz="1100" dirty="0"/>
          </a:p>
        </p:txBody>
      </p:sp>
      <p:sp>
        <p:nvSpPr>
          <p:cNvPr id="10" name="Shape 8"/>
          <p:cNvSpPr/>
          <p:nvPr/>
        </p:nvSpPr>
        <p:spPr>
          <a:xfrm>
            <a:off x="457200" y="2423160"/>
            <a:ext cx="54864" cy="1005840"/>
          </a:xfrm>
          <a:prstGeom prst="rect">
            <a:avLst/>
          </a:prstGeom>
          <a:solidFill>
            <a:srgbClr val="97BC62"/>
          </a:solidFill>
          <a:ln/>
        </p:spPr>
      </p:sp>
      <p:sp>
        <p:nvSpPr>
          <p:cNvPr id="11" name="Text 9"/>
          <p:cNvSpPr/>
          <p:nvPr/>
        </p:nvSpPr>
        <p:spPr>
          <a:xfrm>
            <a:off x="685800" y="2423160"/>
            <a:ext cx="3840480" cy="365760"/>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Satellite &amp; Remote Sensing</a:t>
            </a:r>
            <a:endParaRPr lang="en-US" sz="1400" dirty="0"/>
          </a:p>
        </p:txBody>
      </p:sp>
      <p:sp>
        <p:nvSpPr>
          <p:cNvPr id="12" name="Text 10"/>
          <p:cNvSpPr/>
          <p:nvPr/>
        </p:nvSpPr>
        <p:spPr>
          <a:xfrm>
            <a:off x="685800" y="2788920"/>
            <a:ext cx="3840480" cy="640080"/>
          </a:xfrm>
          <a:prstGeom prst="rect">
            <a:avLst/>
          </a:prstGeom>
          <a:noFill/>
          <a:ln/>
        </p:spPr>
        <p:txBody>
          <a:bodyPr wrap="square" lIns="0" tIns="0" rIns="0" bIns="0" rtlCol="0" anchor="t"/>
          <a:lstStyle/>
          <a:p>
            <a:pPr indent="0" marL="0">
              <a:lnSpc>
                <a:spcPct val="120000"/>
              </a:lnSpc>
              <a:buNone/>
            </a:pPr>
            <a:r>
              <a:rPr lang="en-US" sz="1100" dirty="0">
                <a:solidFill>
                  <a:srgbClr val="6B7B6E"/>
                </a:solidFill>
                <a:latin typeface="Calibri" pitchFamily="34" charset="0"/>
                <a:ea typeface="Calibri" pitchFamily="34" charset="-122"/>
                <a:cs typeface="Calibri" pitchFamily="34" charset="-120"/>
              </a:rPr>
              <a:t>Use NDVI and multispectral imagery for large-scale crop health monitoring and yield estimation.</a:t>
            </a:r>
            <a:endParaRPr lang="en-US" sz="1100" dirty="0"/>
          </a:p>
        </p:txBody>
      </p:sp>
      <p:sp>
        <p:nvSpPr>
          <p:cNvPr id="13" name="Shape 11"/>
          <p:cNvSpPr/>
          <p:nvPr/>
        </p:nvSpPr>
        <p:spPr>
          <a:xfrm>
            <a:off x="4754880" y="2423160"/>
            <a:ext cx="54864" cy="1005840"/>
          </a:xfrm>
          <a:prstGeom prst="rect">
            <a:avLst/>
          </a:prstGeom>
          <a:solidFill>
            <a:srgbClr val="97BC62"/>
          </a:solidFill>
          <a:ln/>
        </p:spPr>
      </p:sp>
      <p:sp>
        <p:nvSpPr>
          <p:cNvPr id="14" name="Text 12"/>
          <p:cNvSpPr/>
          <p:nvPr/>
        </p:nvSpPr>
        <p:spPr>
          <a:xfrm>
            <a:off x="4983480" y="2423160"/>
            <a:ext cx="3840480" cy="365760"/>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Mobile Application</a:t>
            </a:r>
            <a:endParaRPr lang="en-US" sz="1400" dirty="0"/>
          </a:p>
        </p:txBody>
      </p:sp>
      <p:sp>
        <p:nvSpPr>
          <p:cNvPr id="15" name="Text 13"/>
          <p:cNvSpPr/>
          <p:nvPr/>
        </p:nvSpPr>
        <p:spPr>
          <a:xfrm>
            <a:off x="4983480" y="2788920"/>
            <a:ext cx="3840480" cy="640080"/>
          </a:xfrm>
          <a:prstGeom prst="rect">
            <a:avLst/>
          </a:prstGeom>
          <a:noFill/>
          <a:ln/>
        </p:spPr>
        <p:txBody>
          <a:bodyPr wrap="square" lIns="0" tIns="0" rIns="0" bIns="0" rtlCol="0" anchor="t"/>
          <a:lstStyle/>
          <a:p>
            <a:pPr indent="0" marL="0">
              <a:lnSpc>
                <a:spcPct val="120000"/>
              </a:lnSpc>
              <a:buNone/>
            </a:pPr>
            <a:r>
              <a:rPr lang="en-US" sz="1100" dirty="0">
                <a:solidFill>
                  <a:srgbClr val="6B7B6E"/>
                </a:solidFill>
                <a:latin typeface="Calibri" pitchFamily="34" charset="0"/>
                <a:ea typeface="Calibri" pitchFamily="34" charset="-122"/>
                <a:cs typeface="Calibri" pitchFamily="34" charset="-120"/>
              </a:rPr>
              <a:t>Deploy the trained model as a farmer-friendly mobile app with regional language support.</a:t>
            </a:r>
            <a:endParaRPr lang="en-US" sz="1100" dirty="0"/>
          </a:p>
        </p:txBody>
      </p:sp>
      <p:sp>
        <p:nvSpPr>
          <p:cNvPr id="16" name="Shape 14"/>
          <p:cNvSpPr/>
          <p:nvPr/>
        </p:nvSpPr>
        <p:spPr>
          <a:xfrm>
            <a:off x="457200" y="3657600"/>
            <a:ext cx="54864" cy="1005840"/>
          </a:xfrm>
          <a:prstGeom prst="rect">
            <a:avLst/>
          </a:prstGeom>
          <a:solidFill>
            <a:srgbClr val="97BC62"/>
          </a:solidFill>
          <a:ln/>
        </p:spPr>
      </p:sp>
      <p:sp>
        <p:nvSpPr>
          <p:cNvPr id="17" name="Text 15"/>
          <p:cNvSpPr/>
          <p:nvPr/>
        </p:nvSpPr>
        <p:spPr>
          <a:xfrm>
            <a:off x="685800" y="3657600"/>
            <a:ext cx="3840480" cy="365760"/>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Government Integration</a:t>
            </a:r>
            <a:endParaRPr lang="en-US" sz="1400" dirty="0"/>
          </a:p>
        </p:txBody>
      </p:sp>
      <p:sp>
        <p:nvSpPr>
          <p:cNvPr id="18" name="Text 16"/>
          <p:cNvSpPr/>
          <p:nvPr/>
        </p:nvSpPr>
        <p:spPr>
          <a:xfrm>
            <a:off x="685800" y="4023360"/>
            <a:ext cx="3840480" cy="640080"/>
          </a:xfrm>
          <a:prstGeom prst="rect">
            <a:avLst/>
          </a:prstGeom>
          <a:noFill/>
          <a:ln/>
        </p:spPr>
        <p:txBody>
          <a:bodyPr wrap="square" lIns="0" tIns="0" rIns="0" bIns="0" rtlCol="0" anchor="t"/>
          <a:lstStyle/>
          <a:p>
            <a:pPr indent="0" marL="0">
              <a:lnSpc>
                <a:spcPct val="120000"/>
              </a:lnSpc>
              <a:buNone/>
            </a:pPr>
            <a:r>
              <a:rPr lang="en-US" sz="1100" dirty="0">
                <a:solidFill>
                  <a:srgbClr val="6B7B6E"/>
                </a:solidFill>
                <a:latin typeface="Calibri" pitchFamily="34" charset="0"/>
                <a:ea typeface="Calibri" pitchFamily="34" charset="-122"/>
                <a:cs typeface="Calibri" pitchFamily="34" charset="-120"/>
              </a:rPr>
              <a:t>Partner with agricultural departments for policy planning, subsidy allocation, and disaster response.</a:t>
            </a:r>
            <a:endParaRPr lang="en-US" sz="1100" dirty="0"/>
          </a:p>
        </p:txBody>
      </p:sp>
      <p:sp>
        <p:nvSpPr>
          <p:cNvPr id="19" name="Shape 17"/>
          <p:cNvSpPr/>
          <p:nvPr/>
        </p:nvSpPr>
        <p:spPr>
          <a:xfrm>
            <a:off x="4754880" y="3657600"/>
            <a:ext cx="54864" cy="1005840"/>
          </a:xfrm>
          <a:prstGeom prst="rect">
            <a:avLst/>
          </a:prstGeom>
          <a:solidFill>
            <a:srgbClr val="97BC62"/>
          </a:solidFill>
          <a:ln/>
        </p:spPr>
      </p:sp>
      <p:sp>
        <p:nvSpPr>
          <p:cNvPr id="20" name="Text 18"/>
          <p:cNvSpPr/>
          <p:nvPr/>
        </p:nvSpPr>
        <p:spPr>
          <a:xfrm>
            <a:off x="4983480" y="3657600"/>
            <a:ext cx="3840480" cy="365760"/>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Multi-Crop Optimization</a:t>
            </a:r>
            <a:endParaRPr lang="en-US" sz="1400" dirty="0"/>
          </a:p>
        </p:txBody>
      </p:sp>
      <p:sp>
        <p:nvSpPr>
          <p:cNvPr id="21" name="Text 19"/>
          <p:cNvSpPr/>
          <p:nvPr/>
        </p:nvSpPr>
        <p:spPr>
          <a:xfrm>
            <a:off x="4983480" y="4023360"/>
            <a:ext cx="3840480" cy="640080"/>
          </a:xfrm>
          <a:prstGeom prst="rect">
            <a:avLst/>
          </a:prstGeom>
          <a:noFill/>
          <a:ln/>
        </p:spPr>
        <p:txBody>
          <a:bodyPr wrap="square" lIns="0" tIns="0" rIns="0" bIns="0" rtlCol="0" anchor="t"/>
          <a:lstStyle/>
          <a:p>
            <a:pPr indent="0" marL="0">
              <a:lnSpc>
                <a:spcPct val="120000"/>
              </a:lnSpc>
              <a:buNone/>
            </a:pPr>
            <a:r>
              <a:rPr lang="en-US" sz="1100" dirty="0">
                <a:solidFill>
                  <a:srgbClr val="6B7B6E"/>
                </a:solidFill>
                <a:latin typeface="Calibri" pitchFamily="34" charset="0"/>
                <a:ea typeface="Calibri" pitchFamily="34" charset="-122"/>
                <a:cs typeface="Calibri" pitchFamily="34" charset="-120"/>
              </a:rPr>
              <a:t>Extend to crop rotation and intercropping recommendations using reinforcement learning.</a:t>
            </a:r>
            <a:endParaRPr lang="en-US" sz="1100" dirty="0"/>
          </a:p>
        </p:txBody>
      </p:sp>
      <p:sp>
        <p:nvSpPr>
          <p:cNvPr id="22" name="Text 20"/>
          <p:cNvSpPr/>
          <p:nvPr/>
        </p:nvSpPr>
        <p:spPr>
          <a:xfrm>
            <a:off x="8046720" y="4754880"/>
            <a:ext cx="914400" cy="274320"/>
          </a:xfrm>
          <a:prstGeom prst="rect">
            <a:avLst/>
          </a:prstGeom>
          <a:noFill/>
          <a:ln/>
        </p:spPr>
        <p:txBody>
          <a:bodyPr wrap="square" rtlCol="0" anchor="ctr"/>
          <a:lstStyle/>
          <a:p>
            <a:pPr algn="r" indent="0" marL="0">
              <a:buNone/>
            </a:pPr>
            <a:r>
              <a:rPr lang="en-US" sz="1000" dirty="0">
                <a:solidFill>
                  <a:srgbClr val="6B7B6E"/>
                </a:solidFill>
              </a:rPr>
              <a:t>12 / 12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Crop Yield Prediction Using Machine Learning</dc:title>
  <dc:subject>PptxGenJS Presentation</dc:subject>
  <dc:creator>Crop Yield Prediction Team</dc:creator>
  <cp:lastModifiedBy>Crop Yield Prediction Team</cp:lastModifiedBy>
  <cp:revision>1</cp:revision>
  <dcterms:created xsi:type="dcterms:W3CDTF">2026-04-07T07:57:53Z</dcterms:created>
  <dcterms:modified xsi:type="dcterms:W3CDTF">2026-04-07T07:57:53Z</dcterms:modified>
</cp:coreProperties>
</file>